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1119" r:id="rId2"/>
    <p:sldId id="1545" r:id="rId3"/>
    <p:sldId id="1562" r:id="rId4"/>
    <p:sldId id="1563" r:id="rId5"/>
    <p:sldId id="1546" r:id="rId6"/>
    <p:sldId id="1556" r:id="rId7"/>
    <p:sldId id="1547" r:id="rId8"/>
    <p:sldId id="1552" r:id="rId9"/>
    <p:sldId id="1553" r:id="rId10"/>
    <p:sldId id="1554" r:id="rId11"/>
    <p:sldId id="1555" r:id="rId12"/>
    <p:sldId id="1551" r:id="rId13"/>
    <p:sldId id="1557" r:id="rId14"/>
    <p:sldId id="1558" r:id="rId15"/>
    <p:sldId id="1559" r:id="rId16"/>
    <p:sldId id="1560" r:id="rId17"/>
    <p:sldId id="1566" r:id="rId18"/>
    <p:sldId id="1564" r:id="rId19"/>
    <p:sldId id="1565" r:id="rId20"/>
    <p:sldId id="30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8E90"/>
    <a:srgbClr val="DDDDDD"/>
    <a:srgbClr val="2CB22F"/>
    <a:srgbClr val="66FFFF"/>
    <a:srgbClr val="CC99FF"/>
    <a:srgbClr val="FF9933"/>
    <a:srgbClr val="AEFCFC"/>
    <a:srgbClr val="E0C1FF"/>
    <a:srgbClr val="00589A"/>
    <a:srgbClr val="DEC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226" autoAdjust="0"/>
  </p:normalViewPr>
  <p:slideViewPr>
    <p:cSldViewPr snapToGrid="0">
      <p:cViewPr varScale="1">
        <p:scale>
          <a:sx n="65" d="100"/>
          <a:sy n="65" d="100"/>
        </p:scale>
        <p:origin x="9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35876026471765332"/>
          <c:y val="0.13274882567496529"/>
          <c:w val="0.56926628368982279"/>
          <c:h val="0.5548853088505258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Category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Sheet1!$A$2:$A$6</c:f>
              <c:strCache>
                <c:ptCount val="5"/>
                <c:pt idx="0">
                  <c:v>Praline</c:v>
                </c:pt>
                <c:pt idx="1">
                  <c:v>White</c:v>
                </c:pt>
                <c:pt idx="2">
                  <c:v>Dark</c:v>
                </c:pt>
                <c:pt idx="3">
                  <c:v>Truffle</c:v>
                </c:pt>
                <c:pt idx="4">
                  <c:v>Milk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6665641.3200000003</c:v>
                </c:pt>
                <c:pt idx="1">
                  <c:v>6070172.2000000002</c:v>
                </c:pt>
                <c:pt idx="2">
                  <c:v>5298123.2699999996</c:v>
                </c:pt>
                <c:pt idx="3">
                  <c:v>3924343.24</c:v>
                </c:pt>
                <c:pt idx="4">
                  <c:v>3280368.19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CFB-4A3F-97CE-8E8E24876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</a:t>
                </a:r>
                <a:r>
                  <a:rPr lang="en-IN" baseline="0" dirty="0"/>
                  <a:t>l Revenue</a:t>
                </a:r>
                <a:endParaRPr lang="en-IN" dirty="0"/>
              </a:p>
            </c:rich>
          </c:tx>
          <c:layout>
            <c:manualLayout>
              <c:xMode val="edge"/>
              <c:yMode val="edge"/>
              <c:x val="6.4483301052777026E-2"/>
              <c:y val="0.2740293707276532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17800750877899432"/>
          <c:y val="0.13274882567496529"/>
          <c:w val="0.79002984561997747"/>
          <c:h val="0.64782763836077961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numRef>
              <c:f>Sheet1!$A$2:$A$25</c:f>
              <c:numCache>
                <c:formatCode>General</c:formatCode>
                <c:ptCount val="24"/>
                <c:pt idx="0">
                  <c:v>2023</c:v>
                </c:pt>
                <c:pt idx="1">
                  <c:v>2023</c:v>
                </c:pt>
                <c:pt idx="2">
                  <c:v>2023</c:v>
                </c:pt>
                <c:pt idx="3">
                  <c:v>2023</c:v>
                </c:pt>
                <c:pt idx="4">
                  <c:v>2023</c:v>
                </c:pt>
                <c:pt idx="5">
                  <c:v>2023</c:v>
                </c:pt>
                <c:pt idx="6">
                  <c:v>2023</c:v>
                </c:pt>
                <c:pt idx="7">
                  <c:v>2023</c:v>
                </c:pt>
                <c:pt idx="8">
                  <c:v>2023</c:v>
                </c:pt>
                <c:pt idx="9">
                  <c:v>2023</c:v>
                </c:pt>
                <c:pt idx="10">
                  <c:v>2023</c:v>
                </c:pt>
                <c:pt idx="11">
                  <c:v>2023</c:v>
                </c:pt>
                <c:pt idx="12">
                  <c:v>2024</c:v>
                </c:pt>
                <c:pt idx="13">
                  <c:v>2024</c:v>
                </c:pt>
                <c:pt idx="14">
                  <c:v>2024</c:v>
                </c:pt>
                <c:pt idx="15">
                  <c:v>2024</c:v>
                </c:pt>
                <c:pt idx="16">
                  <c:v>2024</c:v>
                </c:pt>
                <c:pt idx="17">
                  <c:v>2024</c:v>
                </c:pt>
                <c:pt idx="18">
                  <c:v>2024</c:v>
                </c:pt>
                <c:pt idx="19">
                  <c:v>2024</c:v>
                </c:pt>
                <c:pt idx="20">
                  <c:v>2024</c:v>
                </c:pt>
                <c:pt idx="21">
                  <c:v>2024</c:v>
                </c:pt>
                <c:pt idx="22">
                  <c:v>2024</c:v>
                </c:pt>
                <c:pt idx="23">
                  <c:v>2024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</c:v>
                </c:pt>
                <c:pt idx="13">
                  <c:v>2</c:v>
                </c:pt>
                <c:pt idx="14">
                  <c:v>3</c:v>
                </c:pt>
                <c:pt idx="15">
                  <c:v>4</c:v>
                </c:pt>
                <c:pt idx="16">
                  <c:v>5</c:v>
                </c:pt>
                <c:pt idx="17">
                  <c:v>6</c:v>
                </c:pt>
                <c:pt idx="18">
                  <c:v>7</c:v>
                </c:pt>
                <c:pt idx="19">
                  <c:v>8</c:v>
                </c:pt>
                <c:pt idx="20">
                  <c:v>9</c:v>
                </c:pt>
                <c:pt idx="21">
                  <c:v>10</c:v>
                </c:pt>
                <c:pt idx="22">
                  <c:v>11</c:v>
                </c:pt>
                <c:pt idx="2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52-4EEF-B41E-49E1FBEF987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  <a:sp3d/>
          </c:spPr>
          <c:invertIfNegative val="0"/>
          <c:cat>
            <c:numRef>
              <c:f>Sheet1!$A$2:$A$25</c:f>
              <c:numCache>
                <c:formatCode>General</c:formatCode>
                <c:ptCount val="24"/>
                <c:pt idx="0">
                  <c:v>2023</c:v>
                </c:pt>
                <c:pt idx="1">
                  <c:v>2023</c:v>
                </c:pt>
                <c:pt idx="2">
                  <c:v>2023</c:v>
                </c:pt>
                <c:pt idx="3">
                  <c:v>2023</c:v>
                </c:pt>
                <c:pt idx="4">
                  <c:v>2023</c:v>
                </c:pt>
                <c:pt idx="5">
                  <c:v>2023</c:v>
                </c:pt>
                <c:pt idx="6">
                  <c:v>2023</c:v>
                </c:pt>
                <c:pt idx="7">
                  <c:v>2023</c:v>
                </c:pt>
                <c:pt idx="8">
                  <c:v>2023</c:v>
                </c:pt>
                <c:pt idx="9">
                  <c:v>2023</c:v>
                </c:pt>
                <c:pt idx="10">
                  <c:v>2023</c:v>
                </c:pt>
                <c:pt idx="11">
                  <c:v>2023</c:v>
                </c:pt>
                <c:pt idx="12">
                  <c:v>2024</c:v>
                </c:pt>
                <c:pt idx="13">
                  <c:v>2024</c:v>
                </c:pt>
                <c:pt idx="14">
                  <c:v>2024</c:v>
                </c:pt>
                <c:pt idx="15">
                  <c:v>2024</c:v>
                </c:pt>
                <c:pt idx="16">
                  <c:v>2024</c:v>
                </c:pt>
                <c:pt idx="17">
                  <c:v>2024</c:v>
                </c:pt>
                <c:pt idx="18">
                  <c:v>2024</c:v>
                </c:pt>
                <c:pt idx="19">
                  <c:v>2024</c:v>
                </c:pt>
                <c:pt idx="20">
                  <c:v>2024</c:v>
                </c:pt>
                <c:pt idx="21">
                  <c:v>2024</c:v>
                </c:pt>
                <c:pt idx="22">
                  <c:v>2024</c:v>
                </c:pt>
                <c:pt idx="23">
                  <c:v>2024</c:v>
                </c:pt>
              </c:numCache>
            </c:num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1095019.2</c:v>
                </c:pt>
                <c:pt idx="1">
                  <c:v>968948.95</c:v>
                </c:pt>
                <c:pt idx="2">
                  <c:v>1084656.0900000001</c:v>
                </c:pt>
                <c:pt idx="3">
                  <c:v>1038425.32</c:v>
                </c:pt>
                <c:pt idx="4">
                  <c:v>1083418.79</c:v>
                </c:pt>
                <c:pt idx="5">
                  <c:v>1046045.02</c:v>
                </c:pt>
                <c:pt idx="6">
                  <c:v>1083223.1299999999</c:v>
                </c:pt>
                <c:pt idx="7">
                  <c:v>1086689.94</c:v>
                </c:pt>
                <c:pt idx="8">
                  <c:v>1056935.75</c:v>
                </c:pt>
                <c:pt idx="9">
                  <c:v>1071879.6499999999</c:v>
                </c:pt>
                <c:pt idx="10">
                  <c:v>1039418.12</c:v>
                </c:pt>
                <c:pt idx="11">
                  <c:v>1080446.31</c:v>
                </c:pt>
                <c:pt idx="12">
                  <c:v>1084751</c:v>
                </c:pt>
                <c:pt idx="13">
                  <c:v>1010042.22</c:v>
                </c:pt>
                <c:pt idx="14">
                  <c:v>1084560.82</c:v>
                </c:pt>
                <c:pt idx="15">
                  <c:v>1043453.14</c:v>
                </c:pt>
                <c:pt idx="16">
                  <c:v>1078643.18</c:v>
                </c:pt>
                <c:pt idx="17">
                  <c:v>1038214.24</c:v>
                </c:pt>
                <c:pt idx="18">
                  <c:v>1085923.3400000001</c:v>
                </c:pt>
                <c:pt idx="19">
                  <c:v>1082353.6000000001</c:v>
                </c:pt>
                <c:pt idx="20">
                  <c:v>1051414.03</c:v>
                </c:pt>
                <c:pt idx="21">
                  <c:v>1075082.2</c:v>
                </c:pt>
                <c:pt idx="22">
                  <c:v>1039335.1</c:v>
                </c:pt>
                <c:pt idx="23">
                  <c:v>1077249.72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052-4EEF-B41E-49E1FBEF98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Total Revenue</a:t>
                </a:r>
              </a:p>
            </c:rich>
          </c:tx>
          <c:layout>
            <c:manualLayout>
              <c:xMode val="edge"/>
              <c:yMode val="edge"/>
              <c:x val="2.3543545588592341E-2"/>
              <c:y val="0.32618909333441265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35876026471765332"/>
          <c:y val="0.13274882567496529"/>
          <c:w val="0.56926628368982279"/>
          <c:h val="0.5548853088505258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Airport</c:v>
                </c:pt>
                <c:pt idx="1">
                  <c:v>Mall</c:v>
                </c:pt>
                <c:pt idx="2">
                  <c:v>Online</c:v>
                </c:pt>
                <c:pt idx="3">
                  <c:v>Retail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3046173.74</c:v>
                </c:pt>
                <c:pt idx="1">
                  <c:v>2650844.14</c:v>
                </c:pt>
                <c:pt idx="2">
                  <c:v>2554237.38</c:v>
                </c:pt>
                <c:pt idx="3">
                  <c:v>1943309.37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C4-4DA6-B648-B6A4AACE68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Store Type</a:t>
                </a:r>
              </a:p>
            </c:rich>
          </c:tx>
          <c:layout>
            <c:manualLayout>
              <c:xMode val="edge"/>
              <c:yMode val="edge"/>
              <c:x val="0.4151070844599144"/>
              <c:y val="0.8588193175839097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Total Profit</a:t>
                </a:r>
              </a:p>
            </c:rich>
          </c:tx>
          <c:layout>
            <c:manualLayout>
              <c:xMode val="edge"/>
              <c:yMode val="edge"/>
              <c:x val="2.326385974703234E-2"/>
              <c:y val="0.3171605111641623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35876026471765332"/>
          <c:y val="0.13274882567496529"/>
          <c:w val="0.56926628368982279"/>
          <c:h val="0.5362665483089122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10 Revenue Product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Sheet1!$A$2:$A$11</c:f>
              <c:strCache>
                <c:ptCount val="10"/>
                <c:pt idx="0">
                  <c:v>Dark Chocolate 50%</c:v>
                </c:pt>
                <c:pt idx="1">
                  <c:v>Truffle Chocolate 80%</c:v>
                </c:pt>
                <c:pt idx="2">
                  <c:v>Milk Chocolate 70%</c:v>
                </c:pt>
                <c:pt idx="3">
                  <c:v>Praline Chocolate 50%</c:v>
                </c:pt>
                <c:pt idx="4">
                  <c:v>Dark Chocolate 60%</c:v>
                </c:pt>
                <c:pt idx="5">
                  <c:v>White Chocolate 50%</c:v>
                </c:pt>
                <c:pt idx="6">
                  <c:v>White Chocolate 90%</c:v>
                </c:pt>
                <c:pt idx="7">
                  <c:v>White Chocolate 80%</c:v>
                </c:pt>
                <c:pt idx="8">
                  <c:v>Truffle Chocolate 90%</c:v>
                </c:pt>
                <c:pt idx="9">
                  <c:v>Praline Chocolate 70%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1775041.34</c:v>
                </c:pt>
                <c:pt idx="1">
                  <c:v>1643258.83</c:v>
                </c:pt>
                <c:pt idx="2">
                  <c:v>1384758.27</c:v>
                </c:pt>
                <c:pt idx="3">
                  <c:v>1382597.04</c:v>
                </c:pt>
                <c:pt idx="4">
                  <c:v>1272649.97</c:v>
                </c:pt>
                <c:pt idx="5">
                  <c:v>1265949.75</c:v>
                </c:pt>
                <c:pt idx="6">
                  <c:v>1137968.57</c:v>
                </c:pt>
                <c:pt idx="7">
                  <c:v>1133285.3899999999</c:v>
                </c:pt>
                <c:pt idx="8">
                  <c:v>1132883.8</c:v>
                </c:pt>
                <c:pt idx="9">
                  <c:v>1127404.94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2-4F31-A599-8103039972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Product</a:t>
                </a:r>
              </a:p>
            </c:rich>
          </c:tx>
          <c:layout>
            <c:manualLayout>
              <c:xMode val="edge"/>
              <c:yMode val="edge"/>
              <c:x val="0.45917959302654604"/>
              <c:y val="0.882092439996173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Total Revenue</a:t>
                </a:r>
              </a:p>
            </c:rich>
          </c:tx>
          <c:layout>
            <c:manualLayout>
              <c:xMode val="edge"/>
              <c:yMode val="edge"/>
              <c:x val="3.68247763269028E-2"/>
              <c:y val="0.2985419199391889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35876026471765332"/>
          <c:y val="0.13274882567496529"/>
          <c:w val="0.56926628368982279"/>
          <c:h val="0.5362665483089122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Profit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Sheet1!$A$2:$A$6</c:f>
              <c:strCache>
                <c:ptCount val="5"/>
                <c:pt idx="0">
                  <c:v>Dark Chocolate 50%</c:v>
                </c:pt>
                <c:pt idx="1">
                  <c:v>Truffle Chocolate 80%</c:v>
                </c:pt>
                <c:pt idx="2">
                  <c:v>Milk Chocolate 70%</c:v>
                </c:pt>
                <c:pt idx="3">
                  <c:v>Praline Chocolate 50%</c:v>
                </c:pt>
                <c:pt idx="4">
                  <c:v>Dark Chocolate 60%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709742.67</c:v>
                </c:pt>
                <c:pt idx="1">
                  <c:v>656761.72</c:v>
                </c:pt>
                <c:pt idx="2">
                  <c:v>553576.55000000005</c:v>
                </c:pt>
                <c:pt idx="3">
                  <c:v>553128.09</c:v>
                </c:pt>
                <c:pt idx="4">
                  <c:v>508956.58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BD-4D6B-BC64-B59F3D4B6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Product</a:t>
                </a:r>
              </a:p>
            </c:rich>
          </c:tx>
          <c:layout>
            <c:manualLayout>
              <c:xMode val="edge"/>
              <c:yMode val="edge"/>
              <c:x val="0.45917959302654604"/>
              <c:y val="0.882092439996173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Total Profit</a:t>
                </a:r>
              </a:p>
            </c:rich>
          </c:tx>
          <c:layout>
            <c:manualLayout>
              <c:xMode val="edge"/>
              <c:yMode val="edge"/>
              <c:x val="3.68247763269028E-2"/>
              <c:y val="0.2985419199391889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20048679425900703"/>
          <c:y val="0.17367254317441397"/>
          <c:w val="0.56926628368982279"/>
          <c:h val="0.55488530885052589"/>
        </c:manualLayout>
      </c:layout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Gender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4F9-411E-B7EF-15C2F9C7B73E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4F9-411E-B7EF-15C2F9C7B73E}"/>
              </c:ext>
            </c:extLst>
          </c:dPt>
          <c:dLbls>
            <c:dLbl>
              <c:idx val="1"/>
              <c:layout>
                <c:manualLayout>
                  <c:x val="4.8700342296822491E-2"/>
                  <c:y val="-0.15979391291907458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108871236225246"/>
                      <c:h val="0.26462132943502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64F9-411E-B7EF-15C2F9C7B73E}"/>
                </c:ext>
              </c:extLst>
            </c:dLbl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12856025.26</c:v>
                </c:pt>
                <c:pt idx="1">
                  <c:v>12630103.6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F9-411E-B7EF-15C2F9C7B7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0.35876026471765332"/>
          <c:y val="0.13274882567496529"/>
          <c:w val="0.56926628368982279"/>
          <c:h val="0.5548853088505258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Margen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Sheet1!$A$2:$A$6</c:f>
              <c:strCache>
                <c:ptCount val="5"/>
                <c:pt idx="0">
                  <c:v>Dark</c:v>
                </c:pt>
                <c:pt idx="1">
                  <c:v>Milk</c:v>
                </c:pt>
                <c:pt idx="2">
                  <c:v>Praline</c:v>
                </c:pt>
                <c:pt idx="3">
                  <c:v>Truffle</c:v>
                </c:pt>
                <c:pt idx="4">
                  <c:v>White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40.03</c:v>
                </c:pt>
                <c:pt idx="1">
                  <c:v>40.01</c:v>
                </c:pt>
                <c:pt idx="2">
                  <c:v>39.979999999999997</c:v>
                </c:pt>
                <c:pt idx="3">
                  <c:v>39.99</c:v>
                </c:pt>
                <c:pt idx="4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56-44CB-9FE2-9BD66E3162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585954303"/>
        <c:axId val="1585951903"/>
        <c:axId val="0"/>
      </c:bar3DChart>
      <c:catAx>
        <c:axId val="15859543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Category</a:t>
                </a:r>
              </a:p>
            </c:rich>
          </c:tx>
          <c:layout>
            <c:manualLayout>
              <c:xMode val="edge"/>
              <c:yMode val="edge"/>
              <c:x val="0.4151070844599144"/>
              <c:y val="0.8588193175839097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1903"/>
        <c:crosses val="autoZero"/>
        <c:auto val="1"/>
        <c:lblAlgn val="ctr"/>
        <c:lblOffset val="100"/>
        <c:noMultiLvlLbl val="0"/>
      </c:catAx>
      <c:valAx>
        <c:axId val="158595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dirty="0"/>
                  <a:t>Total Profit</a:t>
                </a:r>
              </a:p>
            </c:rich>
          </c:tx>
          <c:layout>
            <c:manualLayout>
              <c:xMode val="edge"/>
              <c:yMode val="edge"/>
              <c:x val="2.326385974703234E-2"/>
              <c:y val="0.3171605111641623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59543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348E90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813B3-6425-4A6D-806E-021B84DD5758}" type="datetimeFigureOut">
              <a:rPr lang="en-IN" smtClean="0"/>
              <a:t>22/05/2026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93CE8-3B10-43B2-8860-AFD8154600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557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843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6" name="Google Shape;120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54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aletrix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F306997-3B2B-2B65-053F-A3D89D2F2DA0}"/>
              </a:ext>
            </a:extLst>
          </p:cNvPr>
          <p:cNvSpPr/>
          <p:nvPr userDrawn="1"/>
        </p:nvSpPr>
        <p:spPr>
          <a:xfrm>
            <a:off x="-67" y="0"/>
            <a:ext cx="12192000" cy="63279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D558F-750C-7F7A-EF36-7477B28E66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636" b="4250"/>
          <a:stretch/>
        </p:blipFill>
        <p:spPr>
          <a:xfrm flipH="1">
            <a:off x="937527" y="1260005"/>
            <a:ext cx="5091797" cy="4486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D13BBF-8BF9-58E8-2D48-8C25E8436E1D}"/>
              </a:ext>
            </a:extLst>
          </p:cNvPr>
          <p:cNvSpPr/>
          <p:nvPr userDrawn="1"/>
        </p:nvSpPr>
        <p:spPr>
          <a:xfrm>
            <a:off x="0" y="0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12" name="Google Shape;37;p60">
            <a:extLst>
              <a:ext uri="{FF2B5EF4-FFF2-40B4-BE49-F238E27FC236}">
                <a16:creationId xmlns:a16="http://schemas.microsoft.com/office/drawing/2014/main" id="{E6481E89-02DE-7518-CF7A-DC982067B7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9060" y="2107188"/>
            <a:ext cx="545574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36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4289085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aleway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8;p1">
            <a:extLst>
              <a:ext uri="{FF2B5EF4-FFF2-40B4-BE49-F238E27FC236}">
                <a16:creationId xmlns:a16="http://schemas.microsoft.com/office/drawing/2014/main" id="{9DF37ADA-1D1E-F64E-723D-3F6E9A120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313620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1081404" y="527012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3200">
                <a:latin typeface="Raleway" pitchFamily="2" charset="0"/>
                <a:ea typeface="Raleway" pitchFamily="2" charset="0"/>
                <a:cs typeface="Raleway" pitchFamily="2" charset="0"/>
                <a:sym typeface="PT Sans Narrow"/>
              </a:defRPr>
            </a:lvl1pPr>
          </a:lstStyle>
          <a:p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176E-C771-72C8-F8E5-906AAEAB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187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13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630DA-C8F6-4DCB-07B4-8474A714C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049463"/>
            <a:ext cx="6172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ABE9-772D-629A-0846-B8D8655E4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oogle Shape;45;p7">
            <a:extLst>
              <a:ext uri="{FF2B5EF4-FFF2-40B4-BE49-F238E27FC236}">
                <a16:creationId xmlns:a16="http://schemas.microsoft.com/office/drawing/2014/main" id="{2DDA5E8B-7438-C891-2771-F57700CCD3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10E01B-527E-6CF6-D575-6D430AD2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82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896A-68C9-7523-8C07-666BD0EFB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00" y="2602499"/>
            <a:ext cx="11360800" cy="3153216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Raleway" pitchFamily="2" charset="0"/>
              </a:defRPr>
            </a:lvl2pPr>
            <a:lvl3pPr>
              <a:defRPr>
                <a:latin typeface="Raleway" pitchFamily="2" charset="0"/>
              </a:defRPr>
            </a:lvl3pPr>
            <a:lvl4pPr>
              <a:defRPr>
                <a:latin typeface="Raleway" pitchFamily="2" charset="0"/>
              </a:defRPr>
            </a:lvl4pPr>
            <a:lvl5pPr>
              <a:defRPr>
                <a:latin typeface="Raleway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2B1567C0-4287-5016-773D-60FC694478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CBDA10-C463-8A5E-0969-8CFE1D3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484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userDrawn="1">
  <p:cSld name="Title and two columns 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8027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"/>
          </p:nvPr>
        </p:nvSpPr>
        <p:spPr>
          <a:xfrm>
            <a:off x="18027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 dirty="0"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3"/>
          </p:nvPr>
        </p:nvSpPr>
        <p:spPr>
          <a:xfrm>
            <a:off x="67430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4"/>
          </p:nvPr>
        </p:nvSpPr>
        <p:spPr>
          <a:xfrm>
            <a:off x="67430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" name="Google Shape;45;p7">
            <a:extLst>
              <a:ext uri="{FF2B5EF4-FFF2-40B4-BE49-F238E27FC236}">
                <a16:creationId xmlns:a16="http://schemas.microsoft.com/office/drawing/2014/main" id="{D0B48D13-027A-4AFE-4CD9-AAE135E2B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9" y="115200"/>
            <a:ext cx="10550999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432BB4C-0FFD-F107-637F-62075DD5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5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2236481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15600" y="4490881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EF22A34-8630-7179-6BE7-3A5ED218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564256A3-4B60-B37C-3C15-AB3FE9B6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B24C27D-E9CF-52B2-895E-3ABEC7AD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62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83060A7-945A-2E96-761C-7E7F8D3C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137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0"/>
          <p:cNvSpPr txBox="1">
            <a:spLocks noGrp="1"/>
          </p:cNvSpPr>
          <p:nvPr>
            <p:ph type="subTitle" idx="1"/>
          </p:nvPr>
        </p:nvSpPr>
        <p:spPr>
          <a:xfrm>
            <a:off x="2840535" y="4195828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8" name="Google Shape;38;p60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6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3200" y="115200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573FB6-F6A4-C682-F4CD-14CE8176A144}"/>
              </a:ext>
            </a:extLst>
          </p:cNvPr>
          <p:cNvSpPr/>
          <p:nvPr userDrawn="1"/>
        </p:nvSpPr>
        <p:spPr>
          <a:xfrm>
            <a:off x="0" y="6331389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94567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333" b="0" i="0" u="none" strike="noStrike" cap="none">
          <a:solidFill>
            <a:schemeClr val="tx1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1.xml"/><Relationship Id="rId6" Type="http://schemas.openxmlformats.org/officeDocument/2006/relationships/chart" Target="../charts/chart7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CF642-B155-3EAA-0E23-97793C0E3936}"/>
              </a:ext>
            </a:extLst>
          </p:cNvPr>
          <p:cNvSpPr txBox="1"/>
          <p:nvPr/>
        </p:nvSpPr>
        <p:spPr>
          <a:xfrm>
            <a:off x="6300218" y="1050587"/>
            <a:ext cx="5314608" cy="59205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IN" sz="2667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Project Title : Chocolate Sales Analysis Project</a:t>
            </a: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r>
              <a:rPr lang="en-IN" sz="2667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Name : Mahboob Khan</a:t>
            </a: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r>
              <a:rPr lang="en-IN" sz="2667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Date:15-05-2026</a:t>
            </a: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1345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6B91-4610-90D0-B551-86A4DB946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575" y="427703"/>
            <a:ext cx="4097406" cy="840658"/>
          </a:xfrm>
          <a:solidFill>
            <a:srgbClr val="348E90"/>
          </a:solidFill>
        </p:spPr>
        <p:txBody>
          <a:bodyPr/>
          <a:lstStyle/>
          <a:p>
            <a:r>
              <a:rPr lang="en-I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3377A8-8AC7-452A-02F2-90A5136ED9B5}"/>
              </a:ext>
            </a:extLst>
          </p:cNvPr>
          <p:cNvSpPr txBox="1">
            <a:spLocks/>
          </p:cNvSpPr>
          <p:nvPr/>
        </p:nvSpPr>
        <p:spPr>
          <a:xfrm>
            <a:off x="651575" y="2218754"/>
            <a:ext cx="114284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The Chocolate Sales Dataset (2023–2024) provides synthetic retail transaction data capturing chocolate sales across multiple stores, customers, and products. The dataset includes five interconnected tables — </a:t>
            </a:r>
            <a:r>
              <a:rPr lang="en-IN" sz="1800" b="0" i="1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Sales (Fact Table)</a:t>
            </a: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, </a:t>
            </a:r>
            <a:r>
              <a:rPr lang="en-IN" sz="1800" b="0" i="1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Products</a:t>
            </a: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, </a:t>
            </a:r>
            <a:r>
              <a:rPr lang="en-IN" sz="1800" b="0" i="1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Stores</a:t>
            </a: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, </a:t>
            </a:r>
            <a:r>
              <a:rPr lang="en-IN" sz="1800" b="0" i="1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Customers</a:t>
            </a: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, and </a:t>
            </a:r>
            <a:r>
              <a:rPr lang="en-IN" sz="1800" b="0" i="1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Calendar</a:t>
            </a:r>
            <a:r>
              <a:rPr lang="en-IN" sz="1800" b="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 — enabling comprehensive analysis of sales--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en-IN" sz="1800" b="0" kern="100" dirty="0">
              <a:effectLst/>
              <a:latin typeface="Calibri" panose="020F0502020204030204" pitchFamily="34" charset="0"/>
              <a:ea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06EA5C1-CA1D-DEB9-DC7D-67FD685FD7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7485" y="3696082"/>
            <a:ext cx="865465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Track sales performance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Understand customer </a:t>
            </a:r>
            <a:r>
              <a:rPr lang="en-IN" dirty="0">
                <a:latin typeface="Calibri" panose="020F0502020204030204" pitchFamily="34" charset="0"/>
                <a:cs typeface="Calibri" panose="020F0502020204030204" pitchFamily="34" charset="0"/>
              </a:rPr>
              <a:t>buying trends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Identify top-performing stores/products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Forecast future profit and revenue </a:t>
            </a:r>
          </a:p>
        </p:txBody>
      </p:sp>
    </p:spTree>
    <p:extLst>
      <p:ext uri="{BB962C8B-B14F-4D97-AF65-F5344CB8AC3E}">
        <p14:creationId xmlns:p14="http://schemas.microsoft.com/office/powerpoint/2010/main" val="4268368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61AD2A-459B-2895-E481-C46033B188A9}"/>
              </a:ext>
            </a:extLst>
          </p:cNvPr>
          <p:cNvSpPr txBox="1">
            <a:spLocks/>
          </p:cNvSpPr>
          <p:nvPr/>
        </p:nvSpPr>
        <p:spPr>
          <a:xfrm>
            <a:off x="651574" y="427703"/>
            <a:ext cx="6058941" cy="840658"/>
          </a:xfrm>
          <a:prstGeom prst="rect">
            <a:avLst/>
          </a:prstGeom>
          <a:solidFill>
            <a:srgbClr val="348E9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sz="3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TECHNOLOGY STACK TO BE USED</a:t>
            </a:r>
            <a:endParaRPr lang="en-IN" sz="3400" kern="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5730A1FB-E54D-7630-4DA7-DBAA8988FFA1}"/>
              </a:ext>
            </a:extLst>
          </p:cNvPr>
          <p:cNvSpPr txBox="1">
            <a:spLocks/>
          </p:cNvSpPr>
          <p:nvPr/>
        </p:nvSpPr>
        <p:spPr>
          <a:xfrm>
            <a:off x="403197" y="1681316"/>
            <a:ext cx="10950603" cy="429772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Raleway" pitchFamily="2" charset="0"/>
                <a:ea typeface="Raleway" pitchFamily="2" charset="0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SNOWFLAKE :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Cloud based Data Storage, perform Data Audit/ Cleaning tasks and to do EDA.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POWER BI :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Creating Dashboards as per layout and define calculated measures for all KPIs.</a:t>
            </a:r>
          </a:p>
          <a:p>
            <a:pPr marL="186262"/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DATABRICKS :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Data engineering, preprocessing, and machine learning workflows</a:t>
            </a:r>
          </a:p>
          <a:p>
            <a:pPr marL="186262"/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EXCEL/PPT :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For creating presentations and explaining insights and recommendations.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pPr marL="186262"/>
            <a:r>
              <a:rPr lang="en-US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PYTHON :</a:t>
            </a:r>
            <a:r>
              <a:rPr lang="en-IN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86262"/>
            <a:r>
              <a:rPr lang="en-IN" sz="1800" b="1" i="1" kern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800" kern="0" dirty="0">
                <a:latin typeface="Calibri" panose="020F0502020204030204" pitchFamily="34" charset="0"/>
                <a:cs typeface="Calibri" panose="020F0502020204030204" pitchFamily="34" charset="0"/>
              </a:rPr>
              <a:t>For descriptive, diagnostic and predictive analysis.</a:t>
            </a:r>
            <a:endParaRPr lang="en-US" sz="1800" kern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77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04E78A-2CE3-6F87-6318-5023C708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221226"/>
            <a:ext cx="7088984" cy="604684"/>
          </a:xfrm>
          <a:solidFill>
            <a:srgbClr val="348E90"/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 AUDIT AND CONSISTENCY CHECK</a:t>
            </a:r>
            <a:endParaRPr lang="en-IN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D23293E-56E8-94C0-70A3-34277A8702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197" y="1536174"/>
            <a:ext cx="11484003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To ensure high data quality and reliable analytics, a comprehensive data audit was performed across all tables before analysis and dashboard development.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 process included checking for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missing values, duplicate records, referential integrity, and business rule validation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Key columns such as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order_id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product_id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customer_id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revenue, and profit were validated to ensure completeness and accuracy. Duplicate transactions were identified and removed to prevent KPI inflation, while null values in critical fields were handled appropriately.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DAA240-E6A7-88C4-42EF-EEB73B032600}"/>
              </a:ext>
            </a:extLst>
          </p:cNvPr>
          <p:cNvSpPr txBox="1"/>
          <p:nvPr/>
        </p:nvSpPr>
        <p:spPr>
          <a:xfrm>
            <a:off x="403196" y="4000764"/>
            <a:ext cx="114840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The dataset was successfully cleaned and validated, ensuring </a:t>
            </a:r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accurate KPIs, consistent relationships, and trustworthy insights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for reporting and dashboarding.</a:t>
            </a:r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5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9B2F0E8-4638-0B2B-126A-93898D6B1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461" y="502743"/>
            <a:ext cx="3600552" cy="646331"/>
          </a:xfrm>
          <a:prstGeom prst="rect">
            <a:avLst/>
          </a:prstGeom>
          <a:solidFill>
            <a:srgbClr val="348E90"/>
          </a:solidFill>
          <a:ln>
            <a:noFill/>
          </a:ln>
          <a:effectLst/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pPr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kern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Dataset Summary</a:t>
            </a:r>
            <a:endParaRPr lang="en-US" altLang="en-US" b="0" kern="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87877E8-38E0-AEFA-872E-DFF8B37D6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699118"/>
              </p:ext>
            </p:extLst>
          </p:nvPr>
        </p:nvGraphicFramePr>
        <p:xfrm>
          <a:off x="1002891" y="2728452"/>
          <a:ext cx="9940412" cy="3303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4441">
                  <a:extLst>
                    <a:ext uri="{9D8B030D-6E8A-4147-A177-3AD203B41FA5}">
                      <a16:colId xmlns:a16="http://schemas.microsoft.com/office/drawing/2014/main" val="1345424490"/>
                    </a:ext>
                  </a:extLst>
                </a:gridCol>
                <a:gridCol w="1915564">
                  <a:extLst>
                    <a:ext uri="{9D8B030D-6E8A-4147-A177-3AD203B41FA5}">
                      <a16:colId xmlns:a16="http://schemas.microsoft.com/office/drawing/2014/main" val="825289355"/>
                    </a:ext>
                  </a:extLst>
                </a:gridCol>
                <a:gridCol w="1368261">
                  <a:extLst>
                    <a:ext uri="{9D8B030D-6E8A-4147-A177-3AD203B41FA5}">
                      <a16:colId xmlns:a16="http://schemas.microsoft.com/office/drawing/2014/main" val="3328793618"/>
                    </a:ext>
                  </a:extLst>
                </a:gridCol>
                <a:gridCol w="4132146">
                  <a:extLst>
                    <a:ext uri="{9D8B030D-6E8A-4147-A177-3AD203B41FA5}">
                      <a16:colId xmlns:a16="http://schemas.microsoft.com/office/drawing/2014/main" val="3581217537"/>
                    </a:ext>
                  </a:extLst>
                </a:gridCol>
              </a:tblGrid>
              <a:tr h="73557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   Table Name</a:t>
                      </a:r>
                      <a:endParaRPr lang="en-IN" sz="18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      Columns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     Rows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     Purpose</a:t>
                      </a:r>
                      <a:endParaRPr lang="en-IN" sz="18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12349"/>
                  </a:ext>
                </a:extLst>
              </a:tr>
              <a:tr h="6114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Sales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10,00,000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Contains detailed sales transactions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35820"/>
                  </a:ext>
                </a:extLst>
              </a:tr>
              <a:tr h="6114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Calendar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731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Date-related attributes for time analysis</a:t>
                      </a:r>
                      <a:endParaRPr lang="en-GB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771100"/>
                  </a:ext>
                </a:extLst>
              </a:tr>
              <a:tr h="36686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 details and attributes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593327"/>
                  </a:ext>
                </a:extLst>
              </a:tr>
              <a:tr h="36686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Stores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 location and type info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585375"/>
                  </a:ext>
                </a:extLst>
              </a:tr>
              <a:tr h="6114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Customers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5,000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800" u="none" strike="noStrike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Customer demographics and loyalty info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82867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AB24030-BDE0-7EB7-15D9-0B59BF4F672C}"/>
              </a:ext>
            </a:extLst>
          </p:cNvPr>
          <p:cNvSpPr txBox="1"/>
          <p:nvPr/>
        </p:nvSpPr>
        <p:spPr>
          <a:xfrm>
            <a:off x="1643217" y="1522984"/>
            <a:ext cx="1911143" cy="646331"/>
          </a:xfrm>
          <a:prstGeom prst="rect">
            <a:avLst/>
          </a:prstGeom>
          <a:solidFill>
            <a:srgbClr val="348E9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Total Table</a:t>
            </a:r>
            <a:b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</a:br>
            <a: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5</a:t>
            </a:r>
            <a:r>
              <a:rPr lang="en-IN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FB3C23-FC65-27AB-8719-5140AAF8E364}"/>
              </a:ext>
            </a:extLst>
          </p:cNvPr>
          <p:cNvSpPr txBox="1"/>
          <p:nvPr/>
        </p:nvSpPr>
        <p:spPr>
          <a:xfrm>
            <a:off x="4924118" y="1522984"/>
            <a:ext cx="2097958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pPr algn="ctr"/>
            <a:r>
              <a:rPr lang="en-IN" sz="1800" b="0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Total </a:t>
            </a:r>
            <a: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Column</a:t>
            </a:r>
            <a:br>
              <a:rPr lang="en-IN" sz="1800" b="0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</a:br>
            <a:r>
              <a:rPr lang="en-IN" sz="1800" b="0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33</a:t>
            </a:r>
            <a:r>
              <a:rPr lang="en-IN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C560B8-1AB4-17FD-9B0F-C5AA00FB917C}"/>
              </a:ext>
            </a:extLst>
          </p:cNvPr>
          <p:cNvSpPr txBox="1"/>
          <p:nvPr/>
        </p:nvSpPr>
        <p:spPr>
          <a:xfrm>
            <a:off x="8127590" y="1522984"/>
            <a:ext cx="2421192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pPr algn="ctr"/>
            <a: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Total Rows</a:t>
            </a:r>
            <a:b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</a:br>
            <a:r>
              <a:rPr lang="en-IN" sz="1800" b="1" i="0" u="none" strike="noStrike" dirty="0">
                <a:solidFill>
                  <a:schemeClr val="bg1"/>
                </a:solidFill>
                <a:effectLst/>
                <a:latin typeface="Aptos Narrow" panose="020B0004020202020204" pitchFamily="34" charset="0"/>
              </a:rPr>
              <a:t>1006031</a:t>
            </a:r>
            <a:r>
              <a:rPr lang="en-IN" b="1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3195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C614648-4CE2-B103-463F-6E1896EE3C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2886" y="295820"/>
            <a:ext cx="2926084" cy="795561"/>
          </a:xfrm>
          <a:solidFill>
            <a:srgbClr val="348E90"/>
          </a:solidFill>
        </p:spPr>
        <p:txBody>
          <a:bodyPr>
            <a:noAutofit/>
          </a:bodyPr>
          <a:lstStyle/>
          <a:p>
            <a:pPr algn="l"/>
            <a:r>
              <a:rPr lang="en-IN" sz="3600" b="1" dirty="0">
                <a:latin typeface="Calibri" panose="020F0502020204030204" pitchFamily="34" charset="0"/>
                <a:cs typeface="Calibri" panose="020F0502020204030204" pitchFamily="34" charset="0"/>
              </a:rPr>
              <a:t>ER-DIAGRAM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C69E48-26E6-E295-EB39-35F960780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886" y="1510769"/>
            <a:ext cx="7796366" cy="452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28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0FDA-3C8C-12E3-4888-EAD725B1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324464"/>
            <a:ext cx="7297806" cy="855407"/>
          </a:xfrm>
          <a:solidFill>
            <a:srgbClr val="348E90"/>
          </a:solidFill>
        </p:spPr>
        <p:txBody>
          <a:bodyPr>
            <a:normAutofit/>
          </a:bodyPr>
          <a:lstStyle/>
          <a:p>
            <a:pPr algn="l"/>
            <a:r>
              <a:rPr lang="en-GB" dirty="0">
                <a:solidFill>
                  <a:schemeClr val="tx1"/>
                </a:solidFill>
              </a:rPr>
              <a:t>Dataset Structure (Sales Table)</a:t>
            </a:r>
            <a:endParaRPr lang="en-IN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114958-D747-FE37-1C89-042B40264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613899"/>
              </p:ext>
            </p:extLst>
          </p:nvPr>
        </p:nvGraphicFramePr>
        <p:xfrm>
          <a:off x="648929" y="1710813"/>
          <a:ext cx="10913805" cy="4503781"/>
        </p:xfrm>
        <a:graphic>
          <a:graphicData uri="http://schemas.openxmlformats.org/drawingml/2006/table">
            <a:tbl>
              <a:tblPr firstRow="1"/>
              <a:tblGrid>
                <a:gridCol w="3637935">
                  <a:extLst>
                    <a:ext uri="{9D8B030D-6E8A-4147-A177-3AD203B41FA5}">
                      <a16:colId xmlns:a16="http://schemas.microsoft.com/office/drawing/2014/main" val="1307303660"/>
                    </a:ext>
                  </a:extLst>
                </a:gridCol>
                <a:gridCol w="3637935">
                  <a:extLst>
                    <a:ext uri="{9D8B030D-6E8A-4147-A177-3AD203B41FA5}">
                      <a16:colId xmlns:a16="http://schemas.microsoft.com/office/drawing/2014/main" val="2494759210"/>
                    </a:ext>
                  </a:extLst>
                </a:gridCol>
                <a:gridCol w="3637935">
                  <a:extLst>
                    <a:ext uri="{9D8B030D-6E8A-4147-A177-3AD203B41FA5}">
                      <a16:colId xmlns:a16="http://schemas.microsoft.com/office/drawing/2014/main" val="2891119616"/>
                    </a:ext>
                  </a:extLst>
                </a:gridCol>
              </a:tblGrid>
              <a:tr h="516193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Column Name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Data Type</a:t>
                      </a:r>
                      <a:endParaRPr lang="en-IN" sz="18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194406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order_id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Unique order identifier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553302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order_date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 of purchase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3454958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 identifier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962433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 identifier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07822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customer_id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Customer identifier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854835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quantity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Number of items sold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5501070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unit_price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Price per unit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0639588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discount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Discount applied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556397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revenue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Revenue after discount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356010"/>
                  </a:ext>
                </a:extLst>
              </a:tr>
              <a:tr h="357648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cost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Estimated product cost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577344"/>
                  </a:ext>
                </a:extLst>
              </a:tr>
              <a:tr h="219389">
                <a:tc>
                  <a:txBody>
                    <a:bodyPr/>
                    <a:lstStyle/>
                    <a:p>
                      <a:pPr algn="ctr"/>
                      <a:r>
                        <a:rPr lang="en-IN" sz="1800" b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profit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Profit from transaction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429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7212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0FDA-3C8C-12E3-4888-EAD725B1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335" y="398206"/>
            <a:ext cx="7297806" cy="855407"/>
          </a:xfrm>
          <a:solidFill>
            <a:srgbClr val="348E90"/>
          </a:solidFill>
        </p:spPr>
        <p:txBody>
          <a:bodyPr>
            <a:normAutofit fontScale="90000"/>
          </a:bodyPr>
          <a:lstStyle/>
          <a:p>
            <a:pPr algn="l"/>
            <a:r>
              <a:rPr lang="en-GB" dirty="0">
                <a:solidFill>
                  <a:schemeClr val="tx1"/>
                </a:solidFill>
              </a:rPr>
              <a:t>Dataset Structure (Calendar Table)</a:t>
            </a:r>
            <a:endParaRPr lang="en-IN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114958-D747-FE37-1C89-042B40264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7683393"/>
              </p:ext>
            </p:extLst>
          </p:nvPr>
        </p:nvGraphicFramePr>
        <p:xfrm>
          <a:off x="548335" y="1710811"/>
          <a:ext cx="10999653" cy="3774076"/>
        </p:xfrm>
        <a:graphic>
          <a:graphicData uri="http://schemas.openxmlformats.org/drawingml/2006/table">
            <a:tbl>
              <a:tblPr firstRow="1"/>
              <a:tblGrid>
                <a:gridCol w="2226233">
                  <a:extLst>
                    <a:ext uri="{9D8B030D-6E8A-4147-A177-3AD203B41FA5}">
                      <a16:colId xmlns:a16="http://schemas.microsoft.com/office/drawing/2014/main" val="1307303660"/>
                    </a:ext>
                  </a:extLst>
                </a:gridCol>
                <a:gridCol w="2226233">
                  <a:extLst>
                    <a:ext uri="{9D8B030D-6E8A-4147-A177-3AD203B41FA5}">
                      <a16:colId xmlns:a16="http://schemas.microsoft.com/office/drawing/2014/main" val="1250702"/>
                    </a:ext>
                  </a:extLst>
                </a:gridCol>
                <a:gridCol w="6547187">
                  <a:extLst>
                    <a:ext uri="{9D8B030D-6E8A-4147-A177-3AD203B41FA5}">
                      <a16:colId xmlns:a16="http://schemas.microsoft.com/office/drawing/2014/main" val="2891119616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Column Name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Data Type</a:t>
                      </a:r>
                      <a:endParaRPr lang="en-IN" sz="18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194406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unique calendar date, serving as the primary key for linking with sales transactions.</a:t>
                      </a:r>
                    </a:p>
                  </a:txBody>
                  <a:tcPr marL="9525" marR="9525" marT="9525" marB="9525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5533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year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year component of the date, useful for annual comparisons and aggregations.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3454958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month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month number or name, enabling monthly trend analysis.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96243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day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day of the month, supporting daily-level reporting.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0782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week</a:t>
                      </a: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week number, useful for weekly summaries and comparisons.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854835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day_of_week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188" marR="88188" marT="44094" marB="440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Indicates the weekday (e.g., Monday, Tuesday), enabling analysis of sales patterns by day.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5501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8111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0FDA-3C8C-12E3-4888-EAD725B1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6" y="398206"/>
            <a:ext cx="7074309" cy="855407"/>
          </a:xfrm>
          <a:solidFill>
            <a:srgbClr val="348E90"/>
          </a:solidFill>
        </p:spPr>
        <p:txBody>
          <a:bodyPr>
            <a:normAutofit fontScale="90000"/>
          </a:bodyPr>
          <a:lstStyle/>
          <a:p>
            <a:pPr algn="l"/>
            <a:r>
              <a:rPr lang="en-GB" dirty="0">
                <a:solidFill>
                  <a:schemeClr val="tx1"/>
                </a:solidFill>
              </a:rPr>
              <a:t>Dataset Structure (Products Table)</a:t>
            </a:r>
            <a:endParaRPr lang="en-IN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94D634C-9CDD-200D-7B0F-1D30E9587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653957"/>
              </p:ext>
            </p:extLst>
          </p:nvPr>
        </p:nvGraphicFramePr>
        <p:xfrm>
          <a:off x="639097" y="1667584"/>
          <a:ext cx="10913806" cy="4079395"/>
        </p:xfrm>
        <a:graphic>
          <a:graphicData uri="http://schemas.openxmlformats.org/drawingml/2006/table">
            <a:tbl>
              <a:tblPr firstRow="1"/>
              <a:tblGrid>
                <a:gridCol w="2288411">
                  <a:extLst>
                    <a:ext uri="{9D8B030D-6E8A-4147-A177-3AD203B41FA5}">
                      <a16:colId xmlns:a16="http://schemas.microsoft.com/office/drawing/2014/main" val="2494470979"/>
                    </a:ext>
                  </a:extLst>
                </a:gridCol>
                <a:gridCol w="2288411">
                  <a:extLst>
                    <a:ext uri="{9D8B030D-6E8A-4147-A177-3AD203B41FA5}">
                      <a16:colId xmlns:a16="http://schemas.microsoft.com/office/drawing/2014/main" val="1236535896"/>
                    </a:ext>
                  </a:extLst>
                </a:gridCol>
                <a:gridCol w="6336984">
                  <a:extLst>
                    <a:ext uri="{9D8B030D-6E8A-4147-A177-3AD203B41FA5}">
                      <a16:colId xmlns:a16="http://schemas.microsoft.com/office/drawing/2014/main" val="4185013604"/>
                    </a:ext>
                  </a:extLst>
                </a:gridCol>
              </a:tblGrid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Column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 Type</a:t>
                      </a:r>
                      <a:endParaRPr lang="en-IN" sz="18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618950"/>
                  </a:ext>
                </a:extLst>
              </a:tr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Unique identifier for each product in the dataset.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477987"/>
                  </a:ext>
                </a:extLst>
              </a:tr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product_name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 of the chocolate product sold.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665092"/>
                  </a:ext>
                </a:extLst>
              </a:tr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brand or manufacturer associated with the product.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0673847"/>
                  </a:ext>
                </a:extLst>
              </a:tr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Classification of the product (e.g., dark chocolate, milk chocolate, premium).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470371"/>
                  </a:ext>
                </a:extLst>
              </a:tr>
              <a:tr h="795478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cocoa_percent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Percentage of cocoa content in the chocolate, useful for quality and taste analysis.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841566"/>
                  </a:ext>
                </a:extLst>
              </a:tr>
              <a:tr h="454559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weight_g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Net weight of the product in grams.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870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987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0FDA-3C8C-12E3-4888-EAD725B1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942" y="398206"/>
            <a:ext cx="7182463" cy="855407"/>
          </a:xfrm>
          <a:solidFill>
            <a:srgbClr val="348E90"/>
          </a:solidFill>
        </p:spPr>
        <p:txBody>
          <a:bodyPr>
            <a:normAutofit fontScale="90000"/>
          </a:bodyPr>
          <a:lstStyle/>
          <a:p>
            <a:pPr algn="l"/>
            <a:r>
              <a:rPr lang="en-GB" dirty="0">
                <a:solidFill>
                  <a:schemeClr val="tx1"/>
                </a:solidFill>
              </a:rPr>
              <a:t>Dataset Structure (Stores Table)</a:t>
            </a:r>
            <a:endParaRPr lang="en-IN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A7B49D-1CDD-221A-889A-630E82E10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098802"/>
              </p:ext>
            </p:extLst>
          </p:nvPr>
        </p:nvGraphicFramePr>
        <p:xfrm>
          <a:off x="530943" y="1947297"/>
          <a:ext cx="11017044" cy="3767634"/>
        </p:xfrm>
        <a:graphic>
          <a:graphicData uri="http://schemas.openxmlformats.org/drawingml/2006/table">
            <a:tbl>
              <a:tblPr firstRow="1"/>
              <a:tblGrid>
                <a:gridCol w="3685417">
                  <a:extLst>
                    <a:ext uri="{9D8B030D-6E8A-4147-A177-3AD203B41FA5}">
                      <a16:colId xmlns:a16="http://schemas.microsoft.com/office/drawing/2014/main" val="3755866652"/>
                    </a:ext>
                  </a:extLst>
                </a:gridCol>
                <a:gridCol w="3685417">
                  <a:extLst>
                    <a:ext uri="{9D8B030D-6E8A-4147-A177-3AD203B41FA5}">
                      <a16:colId xmlns:a16="http://schemas.microsoft.com/office/drawing/2014/main" val="706086905"/>
                    </a:ext>
                  </a:extLst>
                </a:gridCol>
                <a:gridCol w="3646210">
                  <a:extLst>
                    <a:ext uri="{9D8B030D-6E8A-4147-A177-3AD203B41FA5}">
                      <a16:colId xmlns:a16="http://schemas.microsoft.com/office/drawing/2014/main" val="1849214120"/>
                    </a:ext>
                  </a:extLst>
                </a:gridCol>
              </a:tblGrid>
              <a:tr h="43902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Column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 Type</a:t>
                      </a:r>
                      <a:endParaRPr lang="en-IN" sz="18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31420"/>
                  </a:ext>
                </a:extLst>
              </a:tr>
              <a:tr h="439023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Unique identifier for each store in the dataset.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210256"/>
                  </a:ext>
                </a:extLst>
              </a:tr>
              <a:tr h="439023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store_name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name of the store where transactions occur.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794444"/>
                  </a:ext>
                </a:extLst>
              </a:tr>
              <a:tr h="439023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city in which the store is located.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831077"/>
                  </a:ext>
                </a:extLst>
              </a:tr>
              <a:tr h="439023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country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country where the store operates.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931985"/>
                  </a:ext>
                </a:extLst>
              </a:tr>
              <a:tr h="768291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store_type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Classification of the store (e.g., supermarket, boutique, online).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1547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3154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0FDA-3C8C-12E3-4888-EAD725B1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32" y="398206"/>
            <a:ext cx="8229600" cy="855407"/>
          </a:xfrm>
          <a:solidFill>
            <a:srgbClr val="348E90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Dataset Structure (Customers Table)</a:t>
            </a:r>
            <a:endParaRPr lang="en-IN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361023-A6A9-A4DA-8AED-784104A4DF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365604"/>
              </p:ext>
            </p:extLst>
          </p:nvPr>
        </p:nvGraphicFramePr>
        <p:xfrm>
          <a:off x="619432" y="1852268"/>
          <a:ext cx="10987548" cy="410767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3662516">
                  <a:extLst>
                    <a:ext uri="{9D8B030D-6E8A-4147-A177-3AD203B41FA5}">
                      <a16:colId xmlns:a16="http://schemas.microsoft.com/office/drawing/2014/main" val="1998042771"/>
                    </a:ext>
                  </a:extLst>
                </a:gridCol>
                <a:gridCol w="3662516">
                  <a:extLst>
                    <a:ext uri="{9D8B030D-6E8A-4147-A177-3AD203B41FA5}">
                      <a16:colId xmlns:a16="http://schemas.microsoft.com/office/drawing/2014/main" val="1721220684"/>
                    </a:ext>
                  </a:extLst>
                </a:gridCol>
                <a:gridCol w="3662516">
                  <a:extLst>
                    <a:ext uri="{9D8B030D-6E8A-4147-A177-3AD203B41FA5}">
                      <a16:colId xmlns:a16="http://schemas.microsoft.com/office/drawing/2014/main" val="554847890"/>
                    </a:ext>
                  </a:extLst>
                </a:gridCol>
              </a:tblGrid>
              <a:tr h="46292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Column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Data Type</a:t>
                      </a:r>
                      <a:endParaRPr lang="en-IN" sz="18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4323022"/>
                  </a:ext>
                </a:extLst>
              </a:tr>
              <a:tr h="462920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customer_id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Unique identifier for each customer in the dataset.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3191216"/>
                  </a:ext>
                </a:extLst>
              </a:tr>
              <a:tr h="462920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 of the customer, useful for demographic analysis.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9347105"/>
                  </a:ext>
                </a:extLst>
              </a:tr>
              <a:tr h="462920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gender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Gender of the customer (e.g., Male, Female, Other).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7704510"/>
                  </a:ext>
                </a:extLst>
              </a:tr>
              <a:tr h="810110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loyalty_member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Varchar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Indicates whether the customer is part of a loyalty program.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637278"/>
                  </a:ext>
                </a:extLst>
              </a:tr>
              <a:tr h="810110">
                <a:tc>
                  <a:txBody>
                    <a:bodyPr/>
                    <a:lstStyle/>
                    <a:p>
                      <a:pPr algn="ctr"/>
                      <a:r>
                        <a:rPr lang="en-IN" sz="1800" b="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join_date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  <a:endParaRPr lang="en-IN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 date when the customer joined the loyalty program or registered with the store.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6081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40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6B91-4610-90D0-B551-86A4DB946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574" y="825909"/>
            <a:ext cx="4097406" cy="840658"/>
          </a:xfrm>
          <a:solidFill>
            <a:srgbClr val="348E90"/>
          </a:solidFill>
        </p:spPr>
        <p:txBody>
          <a:bodyPr/>
          <a:lstStyle/>
          <a:p>
            <a:r>
              <a:rPr lang="en-I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Business Objective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3377A8-8AC7-452A-02F2-90A5136ED9B5}"/>
              </a:ext>
            </a:extLst>
          </p:cNvPr>
          <p:cNvSpPr txBox="1">
            <a:spLocks/>
          </p:cNvSpPr>
          <p:nvPr/>
        </p:nvSpPr>
        <p:spPr>
          <a:xfrm>
            <a:off x="651574" y="1843547"/>
            <a:ext cx="10734181" cy="736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GB" sz="1800" b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design and implement a data analytics project that leverages this dataset to uncover actionable insights into chocolate sales performance, profitability, and customer engagement across different stores and time periods.</a:t>
            </a:r>
            <a:endParaRPr lang="en-IN" sz="1800" b="0" kern="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B37FF2-18A0-2A11-DE8A-F61E719BC192}"/>
              </a:ext>
            </a:extLst>
          </p:cNvPr>
          <p:cNvSpPr txBox="1">
            <a:spLocks/>
          </p:cNvSpPr>
          <p:nvPr/>
        </p:nvSpPr>
        <p:spPr>
          <a:xfrm>
            <a:off x="651574" y="2756723"/>
            <a:ext cx="3418981" cy="840658"/>
          </a:xfrm>
          <a:prstGeom prst="rect">
            <a:avLst/>
          </a:prstGeom>
          <a:solidFill>
            <a:srgbClr val="348E90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Key Challenges</a:t>
            </a:r>
            <a:endParaRPr lang="en-IN" kern="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F1BA6C-22F2-8C2A-5305-6563B22CB799}"/>
              </a:ext>
            </a:extLst>
          </p:cNvPr>
          <p:cNvSpPr txBox="1"/>
          <p:nvPr/>
        </p:nvSpPr>
        <p:spPr>
          <a:xfrm>
            <a:off x="651574" y="3774361"/>
            <a:ext cx="11158626" cy="2398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Sales Performance Analysis</a:t>
            </a:r>
            <a:r>
              <a:rPr lang="en-IN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Identify top-performing products, brands, and stores based on revenue and profit metrics.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Customer Segmentation</a:t>
            </a:r>
            <a:r>
              <a:rPr lang="en-IN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Analyse demographic and loyalty data to understand purchasing patterns.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Discount Impact Evaluation</a:t>
            </a:r>
            <a:r>
              <a:rPr lang="en-IN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Assess how discounts influence revenue and profit margins.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Seasonal Trends</a:t>
            </a:r>
            <a:r>
              <a:rPr lang="en-IN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Use the calendar table to detect monthly or weekly variations in sales.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Profitability Insights</a:t>
            </a:r>
            <a:r>
              <a:rPr lang="en-IN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Compare cost and profit data to optimize pricing and discount strategies.</a:t>
            </a:r>
          </a:p>
        </p:txBody>
      </p:sp>
    </p:spTree>
    <p:extLst>
      <p:ext uri="{BB962C8B-B14F-4D97-AF65-F5344CB8AC3E}">
        <p14:creationId xmlns:p14="http://schemas.microsoft.com/office/powerpoint/2010/main" val="2946780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98D997-0735-0293-76CD-F200011FD724}"/>
              </a:ext>
            </a:extLst>
          </p:cNvPr>
          <p:cNvSpPr txBox="1"/>
          <p:nvPr/>
        </p:nvSpPr>
        <p:spPr>
          <a:xfrm>
            <a:off x="379048" y="450438"/>
            <a:ext cx="6301971" cy="615553"/>
          </a:xfrm>
          <a:prstGeom prst="rect">
            <a:avLst/>
          </a:prstGeom>
          <a:solidFill>
            <a:srgbClr val="348E90"/>
          </a:solidFill>
        </p:spPr>
        <p:txBody>
          <a:bodyPr wrap="square" rtlCol="0">
            <a:spAutoFit/>
          </a:bodyPr>
          <a:lstStyle/>
          <a:p>
            <a:r>
              <a:rPr lang="en-IN" sz="3400" b="1" dirty="0">
                <a:latin typeface="Calibri" panose="020F0502020204030204" pitchFamily="34" charset="0"/>
                <a:cs typeface="Calibri" panose="020F0502020204030204" pitchFamily="34" charset="0"/>
              </a:rPr>
              <a:t>DESCRIPTIVE ANALYSIS – Key KPIs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93C8C68-ED3B-ED08-DB04-B4553B213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987394"/>
              </p:ext>
            </p:extLst>
          </p:nvPr>
        </p:nvGraphicFramePr>
        <p:xfrm>
          <a:off x="379047" y="1428750"/>
          <a:ext cx="11390166" cy="4529598"/>
        </p:xfrm>
        <a:graphic>
          <a:graphicData uri="http://schemas.openxmlformats.org/drawingml/2006/table">
            <a:tbl>
              <a:tblPr firstRow="1">
                <a:tableStyleId>{3B4B98B0-60AC-42C2-AFA5-B58CD77FA1E5}</a:tableStyleId>
              </a:tblPr>
              <a:tblGrid>
                <a:gridCol w="3796722">
                  <a:extLst>
                    <a:ext uri="{9D8B030D-6E8A-4147-A177-3AD203B41FA5}">
                      <a16:colId xmlns:a16="http://schemas.microsoft.com/office/drawing/2014/main" val="373991216"/>
                    </a:ext>
                  </a:extLst>
                </a:gridCol>
                <a:gridCol w="3796722">
                  <a:extLst>
                    <a:ext uri="{9D8B030D-6E8A-4147-A177-3AD203B41FA5}">
                      <a16:colId xmlns:a16="http://schemas.microsoft.com/office/drawing/2014/main" val="280726346"/>
                    </a:ext>
                  </a:extLst>
                </a:gridCol>
                <a:gridCol w="3796722">
                  <a:extLst>
                    <a:ext uri="{9D8B030D-6E8A-4147-A177-3AD203B41FA5}">
                      <a16:colId xmlns:a16="http://schemas.microsoft.com/office/drawing/2014/main" val="3596017118"/>
                    </a:ext>
                  </a:extLst>
                </a:gridCol>
              </a:tblGrid>
              <a:tr h="4313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solidFill>
                            <a:schemeClr val="bg1"/>
                          </a:solidFill>
                          <a:effectLst/>
                        </a:rPr>
                        <a:t>KPI</a:t>
                      </a:r>
                      <a:endParaRPr lang="en-IN" sz="1800" b="1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 dirty="0">
                          <a:solidFill>
                            <a:schemeClr val="bg1"/>
                          </a:solidFill>
                          <a:effectLst/>
                        </a:rPr>
                        <a:t>Value</a:t>
                      </a:r>
                      <a:endParaRPr lang="en-IN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 dirty="0">
                          <a:solidFill>
                            <a:schemeClr val="bg1"/>
                          </a:solidFill>
                          <a:effectLst/>
                        </a:rPr>
                        <a:t>Business Meaning</a:t>
                      </a:r>
                      <a:endParaRPr lang="en-IN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8E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1478640"/>
                  </a:ext>
                </a:extLst>
              </a:tr>
              <a:tr h="1078476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 dirty="0">
                          <a:effectLst/>
                        </a:rPr>
                        <a:t>Total Orders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 dirty="0">
                          <a:effectLst/>
                        </a:rPr>
                        <a:t>10,00,000</a:t>
                      </a:r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u="none" strike="noStrike">
                          <a:effectLst/>
                        </a:rPr>
                        <a:t>Total number of transactions completed in the system</a:t>
                      </a:r>
                      <a:endParaRPr lang="en-GB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069849"/>
                  </a:ext>
                </a:extLst>
              </a:tr>
              <a:tr h="86278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Avg Order Value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25.49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u="none" strike="noStrike">
                          <a:effectLst/>
                        </a:rPr>
                        <a:t>Average revenue generated per order</a:t>
                      </a:r>
                      <a:endParaRPr lang="en-GB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836216"/>
                  </a:ext>
                </a:extLst>
              </a:tr>
              <a:tr h="64708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Total Revenue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2,54,86,128.86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u="none" strike="noStrike">
                          <a:effectLst/>
                        </a:rPr>
                        <a:t>Total income generated from all sales</a:t>
                      </a:r>
                      <a:endParaRPr lang="en-GB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591322"/>
                  </a:ext>
                </a:extLst>
              </a:tr>
              <a:tr h="64708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Total Profit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1,01,94,564.63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u="none" strike="noStrike">
                          <a:effectLst/>
                        </a:rPr>
                        <a:t>Net profit after deducting costs</a:t>
                      </a:r>
                      <a:endParaRPr lang="en-GB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441438"/>
                  </a:ext>
                </a:extLst>
              </a:tr>
              <a:tr h="86278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Profit Margin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800" u="none" strike="noStrike">
                          <a:effectLst/>
                        </a:rPr>
                        <a:t>40.00%</a:t>
                      </a:r>
                      <a:endParaRPr lang="en-IN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800" u="none" strike="noStrike" dirty="0">
                          <a:effectLst/>
                        </a:rPr>
                        <a:t>Percentage of revenue converted into profit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4730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96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E2C8DA8-B9EB-F22A-3554-560015789D16}"/>
              </a:ext>
            </a:extLst>
          </p:cNvPr>
          <p:cNvSpPr txBox="1"/>
          <p:nvPr/>
        </p:nvSpPr>
        <p:spPr>
          <a:xfrm>
            <a:off x="733733" y="412644"/>
            <a:ext cx="4369209" cy="615553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US" sz="3400" b="1" dirty="0">
                <a:latin typeface="Calibri" panose="020F0502020204030204" pitchFamily="34" charset="0"/>
                <a:cs typeface="Calibri" panose="020F0502020204030204" pitchFamily="34" charset="0"/>
              </a:rPr>
              <a:t>DIAGNOSTIC ANALYSIS</a:t>
            </a:r>
            <a:endParaRPr lang="en-IN" sz="3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2CA1D-32A3-4C7E-8E32-AB5F91FA0F6B}"/>
              </a:ext>
            </a:extLst>
          </p:cNvPr>
          <p:cNvSpPr txBox="1"/>
          <p:nvPr/>
        </p:nvSpPr>
        <p:spPr>
          <a:xfrm>
            <a:off x="630493" y="1274491"/>
            <a:ext cx="112124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To identify sales performance across products, stores, and customers to generate meaningful insights for decision-making. These queries helped identify key trends in revenue, profit, and customer behaviour.</a:t>
            </a:r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2875AEB-A5EE-7327-271D-494FA69768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3332341"/>
              </p:ext>
            </p:extLst>
          </p:nvPr>
        </p:nvGraphicFramePr>
        <p:xfrm>
          <a:off x="630493" y="2772697"/>
          <a:ext cx="3705533" cy="33183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11EA65C-ECDE-A6D3-66AD-33F346E076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8355872"/>
              </p:ext>
            </p:extLst>
          </p:nvPr>
        </p:nvGraphicFramePr>
        <p:xfrm>
          <a:off x="4645742" y="2772697"/>
          <a:ext cx="6754760" cy="33183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D3643D7-3770-ACEE-202E-363CDED864D1}"/>
              </a:ext>
            </a:extLst>
          </p:cNvPr>
          <p:cNvSpPr txBox="1"/>
          <p:nvPr/>
        </p:nvSpPr>
        <p:spPr>
          <a:xfrm>
            <a:off x="630493" y="2162093"/>
            <a:ext cx="2215944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Revenue by Category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8D19AB-EC33-DD37-AA8F-42DA7C4B0CBF}"/>
              </a:ext>
            </a:extLst>
          </p:cNvPr>
          <p:cNvSpPr txBox="1"/>
          <p:nvPr/>
        </p:nvSpPr>
        <p:spPr>
          <a:xfrm>
            <a:off x="4645741" y="2162093"/>
            <a:ext cx="2698955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Revenue by Month &amp; Year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067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FAFE27-7760-1ADC-708A-ACA6B96B05DB}"/>
              </a:ext>
            </a:extLst>
          </p:cNvPr>
          <p:cNvSpPr txBox="1"/>
          <p:nvPr/>
        </p:nvSpPr>
        <p:spPr>
          <a:xfrm>
            <a:off x="663675" y="274300"/>
            <a:ext cx="2698955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Profit by Store Type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7366DD-D827-19BE-1359-1BE2A9237D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3648040"/>
              </p:ext>
            </p:extLst>
          </p:nvPr>
        </p:nvGraphicFramePr>
        <p:xfrm>
          <a:off x="140107" y="1002892"/>
          <a:ext cx="3746092" cy="2285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1ADB005-CA2B-1709-B50A-7F15A19BECC3}"/>
              </a:ext>
            </a:extLst>
          </p:cNvPr>
          <p:cNvSpPr txBox="1"/>
          <p:nvPr/>
        </p:nvSpPr>
        <p:spPr>
          <a:xfrm>
            <a:off x="4571999" y="274300"/>
            <a:ext cx="3048002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10 Product by Revenue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E6F7B2C-5B9F-1042-9BD5-A8E0B32596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4152276"/>
              </p:ext>
            </p:extLst>
          </p:nvPr>
        </p:nvGraphicFramePr>
        <p:xfrm>
          <a:off x="4222954" y="1002891"/>
          <a:ext cx="3746092" cy="22859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F463A9A-32DE-263E-E2EC-A96A6F725116}"/>
              </a:ext>
            </a:extLst>
          </p:cNvPr>
          <p:cNvSpPr txBox="1"/>
          <p:nvPr/>
        </p:nvSpPr>
        <p:spPr>
          <a:xfrm>
            <a:off x="8627810" y="274300"/>
            <a:ext cx="3048002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 5 Product by Profit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3AB7B37-3841-B781-6A74-9A69C3F581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5117336"/>
              </p:ext>
            </p:extLst>
          </p:nvPr>
        </p:nvGraphicFramePr>
        <p:xfrm>
          <a:off x="8278765" y="1002891"/>
          <a:ext cx="3746092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F6AFA1EB-C853-96CF-53A3-1AB50DA6582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0474605"/>
              </p:ext>
            </p:extLst>
          </p:nvPr>
        </p:nvGraphicFramePr>
        <p:xfrm>
          <a:off x="578869" y="3928369"/>
          <a:ext cx="2868563" cy="214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00782C6-D031-70AD-8A54-D0EE036758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9477162"/>
              </p:ext>
            </p:extLst>
          </p:nvPr>
        </p:nvGraphicFramePr>
        <p:xfrm>
          <a:off x="4222954" y="3928369"/>
          <a:ext cx="3746092" cy="21458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1E01EC0-512F-B2FD-0914-72082F25EA3F}"/>
              </a:ext>
            </a:extLst>
          </p:cNvPr>
          <p:cNvSpPr txBox="1"/>
          <p:nvPr/>
        </p:nvSpPr>
        <p:spPr>
          <a:xfrm>
            <a:off x="4746522" y="3384444"/>
            <a:ext cx="2698955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Profit by Category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B82C62-E374-6398-0B66-4C37157A4003}"/>
              </a:ext>
            </a:extLst>
          </p:cNvPr>
          <p:cNvSpPr txBox="1"/>
          <p:nvPr/>
        </p:nvSpPr>
        <p:spPr>
          <a:xfrm>
            <a:off x="663674" y="3406256"/>
            <a:ext cx="2698955" cy="369332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Revenue by Gender</a:t>
            </a:r>
            <a:endParaRPr lang="en-IN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172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ED65D4-A1EA-D0BE-3959-28FDAA679B26}"/>
              </a:ext>
            </a:extLst>
          </p:cNvPr>
          <p:cNvSpPr txBox="1"/>
          <p:nvPr/>
        </p:nvSpPr>
        <p:spPr>
          <a:xfrm>
            <a:off x="910712" y="117677"/>
            <a:ext cx="8307029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DASHBOARD 1 — Executive Sales Overview</a:t>
            </a:r>
            <a:endParaRPr lang="en-IN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26535E-657A-5884-30E1-BF17A49A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12" y="973394"/>
            <a:ext cx="10829004" cy="524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29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49A9D9-514B-4836-3C27-3CB1530F59E0}"/>
              </a:ext>
            </a:extLst>
          </p:cNvPr>
          <p:cNvSpPr txBox="1"/>
          <p:nvPr/>
        </p:nvSpPr>
        <p:spPr>
          <a:xfrm>
            <a:off x="855405" y="176669"/>
            <a:ext cx="9306234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DASHBOARD 2 — Customer &amp; Product Analytics</a:t>
            </a:r>
            <a:endParaRPr lang="en-IN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AFA96C-4BFC-0CB2-438C-B61C3E0FE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04" y="1140388"/>
            <a:ext cx="10736827" cy="506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720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8595B0-7304-A032-D875-72BAB09BEB74}"/>
              </a:ext>
            </a:extLst>
          </p:cNvPr>
          <p:cNvSpPr txBox="1"/>
          <p:nvPr/>
        </p:nvSpPr>
        <p:spPr>
          <a:xfrm>
            <a:off x="796413" y="265160"/>
            <a:ext cx="9999406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DASHBOARD 3 — Profitability &amp; Operational Insights</a:t>
            </a:r>
            <a:endParaRPr lang="en-IN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BB887B-15AC-99AD-6A18-0763A2DA9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2" y="1130863"/>
            <a:ext cx="10884311" cy="501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59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A3A2989-EF4B-B412-66D1-76CC46109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954" y="1686343"/>
            <a:ext cx="11223523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Focus on best sellers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 Which chocolates sell the most. Keep more stock of these and promote them more often.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Plan for holiday seasons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Sales usually go up during festivals and holidays. Get ready with extra supply and special offers at those times.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Know your customers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 Which types of customers buy the most chocolates. Create offers that match their taste.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Compare store performance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 Look at which stores sell more and which sell less. Support weaker stores with promotions or better stock.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Balance profit and sales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 Some chocolates may sell a lot but earn less profit. Try to promote items that give both good sales and good profit.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Manage inventory smartly -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Use past sales data to predict demand. This avoids having too much stock or running out of chocolates.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B42EE-1C8F-B3A6-08E9-54643CB8D3F4}"/>
              </a:ext>
            </a:extLst>
          </p:cNvPr>
          <p:cNvSpPr txBox="1"/>
          <p:nvPr/>
        </p:nvSpPr>
        <p:spPr>
          <a:xfrm>
            <a:off x="796413" y="265160"/>
            <a:ext cx="4100052" cy="646331"/>
          </a:xfrm>
          <a:prstGeom prst="rect">
            <a:avLst/>
          </a:prstGeom>
          <a:solidFill>
            <a:srgbClr val="348E90"/>
          </a:solidFill>
        </p:spPr>
        <p:txBody>
          <a:bodyPr wrap="square">
            <a:spAutoFit/>
          </a:bodyPr>
          <a:lstStyle/>
          <a:p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RECOMMENDATION</a:t>
            </a:r>
            <a:endParaRPr lang="en-IN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225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6"/>
          <p:cNvSpPr txBox="1">
            <a:spLocks noGrp="1"/>
          </p:cNvSpPr>
          <p:nvPr>
            <p:ph type="subTitle" idx="1"/>
          </p:nvPr>
        </p:nvSpPr>
        <p:spPr>
          <a:xfrm>
            <a:off x="2849000" y="2488624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10000"/>
          </a:bodyPr>
          <a:lstStyle/>
          <a:p>
            <a:pPr marL="609585" indent="-457189"/>
            <a:r>
              <a:rPr lang="en-US" sz="64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656772840"/>
      </p:ext>
    </p:extLst>
  </p:cSld>
  <p:clrMapOvr>
    <a:masterClrMapping/>
  </p:clrMapOvr>
</p:sld>
</file>

<file path=ppt/theme/theme1.xml><?xml version="1.0" encoding="utf-8"?>
<a:theme xmlns:a="http://schemas.openxmlformats.org/drawingml/2006/main" name="Tropic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17020</TotalTime>
  <Words>1218</Words>
  <Application>Microsoft Office PowerPoint</Application>
  <PresentationFormat>Widescreen</PresentationFormat>
  <Paragraphs>248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Narrow</vt:lpstr>
      <vt:lpstr>Arial</vt:lpstr>
      <vt:lpstr>Calibri</vt:lpstr>
      <vt:lpstr>Open Sans</vt:lpstr>
      <vt:lpstr>PT Sans Narrow</vt:lpstr>
      <vt:lpstr>Raleway</vt:lpstr>
      <vt:lpstr>Tropic</vt:lpstr>
      <vt:lpstr>PowerPoint Presentation</vt:lpstr>
      <vt:lpstr>Problem Statement</vt:lpstr>
      <vt:lpstr>PowerPoint Presentation</vt:lpstr>
      <vt:lpstr>DATA AUDIT AND CONSISTENCY CHECK</vt:lpstr>
      <vt:lpstr>PowerPoint Presentation</vt:lpstr>
      <vt:lpstr>PowerPoint Presentation</vt:lpstr>
      <vt:lpstr>Dataset Structure (Sales Table)</vt:lpstr>
      <vt:lpstr>Dataset Structure (Calendar Table)</vt:lpstr>
      <vt:lpstr>Dataset Structure (Products Table)</vt:lpstr>
      <vt:lpstr>Dataset Structure (Stores Table)</vt:lpstr>
      <vt:lpstr>Dataset Structure (Customers Table)</vt:lpstr>
      <vt:lpstr>Business Objective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oorja gund</dc:creator>
  <cp:lastModifiedBy>mk.khan0786@outlook.com</cp:lastModifiedBy>
  <cp:revision>155</cp:revision>
  <dcterms:created xsi:type="dcterms:W3CDTF">2025-04-04T02:52:34Z</dcterms:created>
  <dcterms:modified xsi:type="dcterms:W3CDTF">2026-05-22T07:19:03Z</dcterms:modified>
</cp:coreProperties>
</file>