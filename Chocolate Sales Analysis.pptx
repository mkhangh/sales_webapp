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1119" r:id="rId2"/>
    <p:sldId id="1571" r:id="rId3"/>
    <p:sldId id="1545" r:id="rId4"/>
    <p:sldId id="1567" r:id="rId5"/>
    <p:sldId id="1568" r:id="rId6"/>
    <p:sldId id="1569" r:id="rId7"/>
    <p:sldId id="1572" r:id="rId8"/>
    <p:sldId id="1573" r:id="rId9"/>
    <p:sldId id="1574" r:id="rId10"/>
    <p:sldId id="1575" r:id="rId11"/>
    <p:sldId id="1576" r:id="rId12"/>
    <p:sldId id="1577" r:id="rId13"/>
    <p:sldId id="1570" r:id="rId14"/>
    <p:sldId id="1578" r:id="rId15"/>
    <p:sldId id="1579" r:id="rId16"/>
    <p:sldId id="1580" r:id="rId17"/>
    <p:sldId id="1581" r:id="rId18"/>
    <p:sldId id="1582" r:id="rId19"/>
    <p:sldId id="1583" r:id="rId20"/>
    <p:sldId id="1587" r:id="rId21"/>
    <p:sldId id="1588" r:id="rId22"/>
    <p:sldId id="1584" r:id="rId23"/>
    <p:sldId id="1585" r:id="rId24"/>
    <p:sldId id="1589" r:id="rId25"/>
    <p:sldId id="1586" r:id="rId26"/>
    <p:sldId id="1560" r:id="rId27"/>
    <p:sldId id="1566" r:id="rId28"/>
    <p:sldId id="301" r:id="rId29"/>
    <p:sldId id="159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E9EDF4"/>
    <a:srgbClr val="D0D8E8"/>
    <a:srgbClr val="348E90"/>
    <a:srgbClr val="DDDDDD"/>
    <a:srgbClr val="2CB22F"/>
    <a:srgbClr val="66FFFF"/>
    <a:srgbClr val="CC99FF"/>
    <a:srgbClr val="FF9933"/>
    <a:srgbClr val="AEFC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65" d="100"/>
          <a:sy n="65" d="100"/>
        </p:scale>
        <p:origin x="93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rgbClr val="4F81BD"/>
                </a:solidFill>
                <a:latin typeface="+mn-lt"/>
                <a:ea typeface="+mn-ea"/>
                <a:cs typeface="+mn-cs"/>
              </a:defRPr>
            </a:pPr>
            <a:r>
              <a:rPr lang="en-US" sz="1800" dirty="0">
                <a:latin typeface="Calibri" panose="020F0502020204030204" pitchFamily="34" charset="0"/>
                <a:cs typeface="Calibri" panose="020F0502020204030204" pitchFamily="34" charset="0"/>
              </a:rPr>
              <a:t>Profit</a:t>
            </a:r>
            <a:r>
              <a:rPr lang="en-US" sz="1800" baseline="0" dirty="0">
                <a:latin typeface="Calibri" panose="020F0502020204030204" pitchFamily="34" charset="0"/>
                <a:cs typeface="Calibri" panose="020F0502020204030204" pitchFamily="34" charset="0"/>
              </a:rPr>
              <a:t> by store type</a:t>
            </a:r>
            <a:endParaRPr lang="en-US" sz="1800" dirty="0">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2128" b="1" i="0" u="none" strike="noStrike" kern="1200" baseline="0">
              <a:solidFill>
                <a:srgbClr val="4F81BD"/>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Store Type</c:v>
                </c:pt>
              </c:strCache>
            </c:strRef>
          </c:tx>
          <c:spPr>
            <a:solidFill>
              <a:srgbClr val="4F81B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Sheet1!$A$2:$A$5</c:f>
              <c:strCache>
                <c:ptCount val="4"/>
                <c:pt idx="0">
                  <c:v>Airport</c:v>
                </c:pt>
                <c:pt idx="1">
                  <c:v>Mall</c:v>
                </c:pt>
                <c:pt idx="2">
                  <c:v>Online</c:v>
                </c:pt>
                <c:pt idx="3">
                  <c:v>Retail</c:v>
                </c:pt>
              </c:strCache>
            </c:strRef>
          </c:cat>
          <c:val>
            <c:numRef>
              <c:f>Sheet1!$B$2:$B$5</c:f>
              <c:numCache>
                <c:formatCode>General</c:formatCode>
                <c:ptCount val="4"/>
                <c:pt idx="0">
                  <c:v>3046173.74</c:v>
                </c:pt>
                <c:pt idx="1">
                  <c:v>2650844.14</c:v>
                </c:pt>
                <c:pt idx="2">
                  <c:v>2554237.38</c:v>
                </c:pt>
                <c:pt idx="3">
                  <c:v>1943309.37</c:v>
                </c:pt>
              </c:numCache>
            </c:numRef>
          </c:val>
          <c:extLst>
            <c:ext xmlns:c16="http://schemas.microsoft.com/office/drawing/2014/chart" uri="{C3380CC4-5D6E-409C-BE32-E72D297353CC}">
              <c16:uniqueId val="{00000000-26DE-454C-97E5-4D311253CDBB}"/>
            </c:ext>
          </c:extLst>
        </c:ser>
        <c:dLbls>
          <c:showLegendKey val="0"/>
          <c:showVal val="0"/>
          <c:showCatName val="0"/>
          <c:showSerName val="0"/>
          <c:showPercent val="0"/>
          <c:showBubbleSize val="0"/>
        </c:dLbls>
        <c:gapWidth val="100"/>
        <c:overlap val="-24"/>
        <c:axId val="1896064160"/>
        <c:axId val="1896061760"/>
      </c:barChart>
      <c:catAx>
        <c:axId val="189606416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crossAx val="1896061760"/>
        <c:crosses val="autoZero"/>
        <c:auto val="1"/>
        <c:lblAlgn val="ctr"/>
        <c:lblOffset val="100"/>
        <c:noMultiLvlLbl val="0"/>
      </c:catAx>
      <c:valAx>
        <c:axId val="18960617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rgbClr val="4F81BD"/>
                    </a:solidFill>
                    <a:latin typeface="+mn-lt"/>
                    <a:ea typeface="+mn-ea"/>
                    <a:cs typeface="+mn-cs"/>
                  </a:defRPr>
                </a:pPr>
                <a:r>
                  <a:rPr lang="en-IN" dirty="0"/>
                  <a:t>Profit</a:t>
                </a:r>
              </a:p>
            </c:rich>
          </c:tx>
          <c:overlay val="0"/>
          <c:spPr>
            <a:noFill/>
            <a:ln>
              <a:noFill/>
            </a:ln>
            <a:effectLst/>
          </c:spPr>
          <c:txPr>
            <a:bodyPr rot="-54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crossAx val="1896064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4F81BD"/>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rgbClr val="4F81BD"/>
                </a:solidFill>
                <a:latin typeface="+mn-lt"/>
                <a:ea typeface="+mn-ea"/>
                <a:cs typeface="+mn-cs"/>
              </a:defRPr>
            </a:pPr>
            <a:r>
              <a:rPr lang="en-US" sz="1800" dirty="0">
                <a:latin typeface="Calibri" panose="020F0502020204030204" pitchFamily="34" charset="0"/>
                <a:cs typeface="Calibri" panose="020F0502020204030204" pitchFamily="34" charset="0"/>
              </a:rPr>
              <a:t>Profit</a:t>
            </a:r>
            <a:r>
              <a:rPr lang="en-US" sz="1800" baseline="0" dirty="0">
                <a:latin typeface="Calibri" panose="020F0502020204030204" pitchFamily="34" charset="0"/>
                <a:cs typeface="Calibri" panose="020F0502020204030204" pitchFamily="34" charset="0"/>
              </a:rPr>
              <a:t> by product</a:t>
            </a:r>
            <a:endParaRPr lang="en-US" sz="1800" dirty="0">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2128" b="1" i="0" u="none" strike="noStrike" kern="1200" baseline="0">
              <a:solidFill>
                <a:srgbClr val="4F81BD"/>
              </a:solidFill>
              <a:latin typeface="+mn-lt"/>
              <a:ea typeface="+mn-ea"/>
              <a:cs typeface="+mn-cs"/>
            </a:defRPr>
          </a:pPr>
          <a:endParaRPr lang="en-US"/>
        </a:p>
      </c:txPr>
    </c:title>
    <c:autoTitleDeleted val="0"/>
    <c:plotArea>
      <c:layout>
        <c:manualLayout>
          <c:layoutTarget val="inner"/>
          <c:xMode val="edge"/>
          <c:yMode val="edge"/>
          <c:x val="0.3027126421340095"/>
          <c:y val="0.14791958688241361"/>
          <c:w val="0.65539570222199695"/>
          <c:h val="0.3961016587280482"/>
        </c:manualLayout>
      </c:layout>
      <c:barChart>
        <c:barDir val="col"/>
        <c:grouping val="clustered"/>
        <c:varyColors val="0"/>
        <c:ser>
          <c:idx val="0"/>
          <c:order val="0"/>
          <c:tx>
            <c:strRef>
              <c:f>Sheet1!$B$1</c:f>
              <c:strCache>
                <c:ptCount val="1"/>
                <c:pt idx="0">
                  <c:v>Top 5 profit product</c:v>
                </c:pt>
              </c:strCache>
            </c:strRef>
          </c:tx>
          <c:spPr>
            <a:solidFill>
              <a:srgbClr val="4F81B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Sheet1!$A$2:$A$6</c:f>
              <c:strCache>
                <c:ptCount val="5"/>
                <c:pt idx="0">
                  <c:v>Dark Chocolate 50%</c:v>
                </c:pt>
                <c:pt idx="1">
                  <c:v>Truffle Chocolate 80%</c:v>
                </c:pt>
                <c:pt idx="2">
                  <c:v>Milk Chocolate 70%</c:v>
                </c:pt>
                <c:pt idx="3">
                  <c:v>Praline Chocolate 50%</c:v>
                </c:pt>
                <c:pt idx="4">
                  <c:v>Dark Chocolate 60%</c:v>
                </c:pt>
              </c:strCache>
            </c:strRef>
          </c:cat>
          <c:val>
            <c:numRef>
              <c:f>Sheet1!$B$2:$B$6</c:f>
              <c:numCache>
                <c:formatCode>General</c:formatCode>
                <c:ptCount val="5"/>
                <c:pt idx="0">
                  <c:v>709742.67</c:v>
                </c:pt>
                <c:pt idx="1">
                  <c:v>656761.72</c:v>
                </c:pt>
                <c:pt idx="2">
                  <c:v>553576.55000000005</c:v>
                </c:pt>
                <c:pt idx="3">
                  <c:v>553128.09</c:v>
                </c:pt>
                <c:pt idx="4">
                  <c:v>508956.58</c:v>
                </c:pt>
              </c:numCache>
            </c:numRef>
          </c:val>
          <c:extLst>
            <c:ext xmlns:c16="http://schemas.microsoft.com/office/drawing/2014/chart" uri="{C3380CC4-5D6E-409C-BE32-E72D297353CC}">
              <c16:uniqueId val="{00000000-CE80-46DE-9621-D4AC79069F36}"/>
            </c:ext>
          </c:extLst>
        </c:ser>
        <c:dLbls>
          <c:showLegendKey val="0"/>
          <c:showVal val="0"/>
          <c:showCatName val="0"/>
          <c:showSerName val="0"/>
          <c:showPercent val="0"/>
          <c:showBubbleSize val="0"/>
        </c:dLbls>
        <c:gapWidth val="100"/>
        <c:overlap val="-24"/>
        <c:axId val="1896064160"/>
        <c:axId val="1896061760"/>
      </c:barChart>
      <c:catAx>
        <c:axId val="189606416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crossAx val="1896061760"/>
        <c:crosses val="autoZero"/>
        <c:auto val="1"/>
        <c:lblAlgn val="ctr"/>
        <c:lblOffset val="100"/>
        <c:noMultiLvlLbl val="0"/>
      </c:catAx>
      <c:valAx>
        <c:axId val="18960617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rgbClr val="4F81BD"/>
                    </a:solidFill>
                    <a:latin typeface="+mn-lt"/>
                    <a:ea typeface="+mn-ea"/>
                    <a:cs typeface="+mn-cs"/>
                  </a:defRPr>
                </a:pPr>
                <a:r>
                  <a:rPr lang="en-IN" dirty="0"/>
                  <a:t>Profit</a:t>
                </a:r>
              </a:p>
            </c:rich>
          </c:tx>
          <c:overlay val="0"/>
          <c:spPr>
            <a:noFill/>
            <a:ln>
              <a:noFill/>
            </a:ln>
            <a:effectLst/>
          </c:spPr>
          <c:txPr>
            <a:bodyPr rot="-54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crossAx val="1896064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4F81BD"/>
          </a:solidFill>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rgbClr val="4F81BD"/>
                </a:solidFill>
                <a:latin typeface="+mn-lt"/>
                <a:ea typeface="+mn-ea"/>
                <a:cs typeface="+mn-cs"/>
              </a:defRPr>
            </a:pPr>
            <a:r>
              <a:rPr lang="en-US" sz="1800" dirty="0">
                <a:latin typeface="Calibri" panose="020F0502020204030204" pitchFamily="34" charset="0"/>
                <a:cs typeface="Calibri" panose="020F0502020204030204" pitchFamily="34" charset="0"/>
              </a:rPr>
              <a:t>Revenue</a:t>
            </a:r>
            <a:r>
              <a:rPr lang="en-US" sz="1800" baseline="0" dirty="0">
                <a:latin typeface="Calibri" panose="020F0502020204030204" pitchFamily="34" charset="0"/>
                <a:cs typeface="Calibri" panose="020F0502020204030204" pitchFamily="34" charset="0"/>
              </a:rPr>
              <a:t> by product</a:t>
            </a:r>
            <a:endParaRPr lang="en-US" sz="1800" dirty="0">
              <a:latin typeface="Calibri" panose="020F0502020204030204" pitchFamily="34" charset="0"/>
              <a:cs typeface="Calibri" panose="020F0502020204030204" pitchFamily="34" charset="0"/>
            </a:endParaRPr>
          </a:p>
        </c:rich>
      </c:tx>
      <c:overlay val="0"/>
      <c:spPr>
        <a:noFill/>
        <a:ln>
          <a:noFill/>
        </a:ln>
        <a:effectLst/>
      </c:spPr>
      <c:txPr>
        <a:bodyPr rot="0" spcFirstLastPara="1" vertOverflow="ellipsis" vert="horz" wrap="square" anchor="ctr" anchorCtr="1"/>
        <a:lstStyle/>
        <a:p>
          <a:pPr>
            <a:defRPr sz="2128" b="1" i="0" u="none" strike="noStrike" kern="1200" baseline="0">
              <a:solidFill>
                <a:srgbClr val="4F81BD"/>
              </a:solidFill>
              <a:latin typeface="+mn-lt"/>
              <a:ea typeface="+mn-ea"/>
              <a:cs typeface="+mn-cs"/>
            </a:defRPr>
          </a:pPr>
          <a:endParaRPr lang="en-US"/>
        </a:p>
      </c:txPr>
    </c:title>
    <c:autoTitleDeleted val="0"/>
    <c:plotArea>
      <c:layout>
        <c:manualLayout>
          <c:layoutTarget val="inner"/>
          <c:xMode val="edge"/>
          <c:yMode val="edge"/>
          <c:x val="0.3027126421340095"/>
          <c:y val="0.14791958688241361"/>
          <c:w val="0.65539570222199695"/>
          <c:h val="0.3961016587280482"/>
        </c:manualLayout>
      </c:layout>
      <c:barChart>
        <c:barDir val="col"/>
        <c:grouping val="clustered"/>
        <c:varyColors val="0"/>
        <c:ser>
          <c:idx val="0"/>
          <c:order val="0"/>
          <c:tx>
            <c:strRef>
              <c:f>Sheet1!$B$1</c:f>
              <c:strCache>
                <c:ptCount val="1"/>
                <c:pt idx="0">
                  <c:v>top5 revenue product</c:v>
                </c:pt>
              </c:strCache>
            </c:strRef>
          </c:tx>
          <c:spPr>
            <a:solidFill>
              <a:srgbClr val="4F81BD"/>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Sheet1!$A$2:$A$6</c:f>
              <c:strCache>
                <c:ptCount val="5"/>
                <c:pt idx="0">
                  <c:v>Dark Chocolate 50%</c:v>
                </c:pt>
                <c:pt idx="1">
                  <c:v>Truffle Chocolate 80%   </c:v>
                </c:pt>
                <c:pt idx="2">
                  <c:v>Milk Chocolate 70%</c:v>
                </c:pt>
                <c:pt idx="3">
                  <c:v>Praline Chocolate 50%   </c:v>
                </c:pt>
                <c:pt idx="4">
                  <c:v>Dark Chocolate 60%</c:v>
                </c:pt>
              </c:strCache>
            </c:strRef>
          </c:cat>
          <c:val>
            <c:numRef>
              <c:f>Sheet1!$B$2:$B$6</c:f>
              <c:numCache>
                <c:formatCode>General</c:formatCode>
                <c:ptCount val="5"/>
                <c:pt idx="0">
                  <c:v>1775041.34</c:v>
                </c:pt>
                <c:pt idx="1">
                  <c:v>1643258.83</c:v>
                </c:pt>
                <c:pt idx="2">
                  <c:v>1384758.27</c:v>
                </c:pt>
                <c:pt idx="3">
                  <c:v>1382597.04</c:v>
                </c:pt>
                <c:pt idx="4">
                  <c:v>1272649.97</c:v>
                </c:pt>
              </c:numCache>
            </c:numRef>
          </c:val>
          <c:extLst>
            <c:ext xmlns:c16="http://schemas.microsoft.com/office/drawing/2014/chart" uri="{C3380CC4-5D6E-409C-BE32-E72D297353CC}">
              <c16:uniqueId val="{00000000-9B75-47F5-B716-9C3C3E4250CE}"/>
            </c:ext>
          </c:extLst>
        </c:ser>
        <c:dLbls>
          <c:showLegendKey val="0"/>
          <c:showVal val="0"/>
          <c:showCatName val="0"/>
          <c:showSerName val="0"/>
          <c:showPercent val="0"/>
          <c:showBubbleSize val="0"/>
        </c:dLbls>
        <c:gapWidth val="100"/>
        <c:overlap val="-24"/>
        <c:axId val="1896064160"/>
        <c:axId val="1896061760"/>
      </c:barChart>
      <c:catAx>
        <c:axId val="1896064160"/>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crossAx val="1896061760"/>
        <c:crosses val="autoZero"/>
        <c:auto val="1"/>
        <c:lblAlgn val="ctr"/>
        <c:lblOffset val="100"/>
        <c:noMultiLvlLbl val="0"/>
      </c:catAx>
      <c:valAx>
        <c:axId val="18960617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rgbClr val="4F81BD"/>
                    </a:solidFill>
                    <a:latin typeface="+mn-lt"/>
                    <a:ea typeface="+mn-ea"/>
                    <a:cs typeface="+mn-cs"/>
                  </a:defRPr>
                </a:pPr>
                <a:r>
                  <a:rPr lang="en-IN" dirty="0"/>
                  <a:t>Revenue</a:t>
                </a:r>
              </a:p>
            </c:rich>
          </c:tx>
          <c:overlay val="0"/>
          <c:spPr>
            <a:noFill/>
            <a:ln>
              <a:noFill/>
            </a:ln>
            <a:effectLst/>
          </c:spPr>
          <c:txPr>
            <a:bodyPr rot="-54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crossAx val="1896064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rgbClr val="4F81BD"/>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rgbClr val="4F81BD"/>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3.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10843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6678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31362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7" r:id="rId6"/>
    <p:sldLayoutId id="2147483668" r:id="rId7"/>
    <p:sldLayoutId id="2147483669" r:id="rId8"/>
    <p:sldLayoutId id="2147483670" r:id="rId9"/>
    <p:sldLayoutId id="2147483671"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6CF642-B155-3EAA-0E23-97793C0E3936}"/>
              </a:ext>
            </a:extLst>
          </p:cNvPr>
          <p:cNvSpPr txBox="1"/>
          <p:nvPr/>
        </p:nvSpPr>
        <p:spPr>
          <a:xfrm>
            <a:off x="6300218" y="1050587"/>
            <a:ext cx="5314608" cy="5920595"/>
          </a:xfrm>
          <a:prstGeom prst="rect">
            <a:avLst/>
          </a:prstGeom>
          <a:noFill/>
        </p:spPr>
        <p:txBody>
          <a:bodyPr wrap="square" rtlCol="0">
            <a:spAutoFit/>
          </a:bodyPr>
          <a:lstStyle/>
          <a:p>
            <a:pPr algn="ctr" defTabSz="1219170">
              <a:buClr>
                <a:srgbClr val="000000"/>
              </a:buClr>
            </a:pPr>
            <a:r>
              <a:rPr lang="en-IN" sz="2667" b="1" kern="0" dirty="0">
                <a:solidFill>
                  <a:prstClr val="black">
                    <a:lumMod val="85000"/>
                    <a:lumOff val="15000"/>
                  </a:prstClr>
                </a:solidFill>
                <a:latin typeface="Arial"/>
                <a:cs typeface="Arial"/>
                <a:sym typeface="Arial"/>
              </a:rPr>
              <a:t>Project Title : Chocolate Sales Analysis Project</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Name : Mahboob Khan</a:t>
            </a: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endParaRPr lang="en-IN" sz="2667" b="1" kern="0" dirty="0">
              <a:solidFill>
                <a:prstClr val="black">
                  <a:lumMod val="85000"/>
                  <a:lumOff val="15000"/>
                </a:prstClr>
              </a:solidFill>
              <a:latin typeface="Arial"/>
              <a:cs typeface="Arial"/>
              <a:sym typeface="Arial"/>
            </a:endParaRPr>
          </a:p>
          <a:p>
            <a:pPr algn="ctr" defTabSz="1219170">
              <a:buClr>
                <a:srgbClr val="000000"/>
              </a:buClr>
            </a:pPr>
            <a:r>
              <a:rPr lang="en-IN" sz="2667" b="1" kern="0" dirty="0">
                <a:solidFill>
                  <a:prstClr val="black">
                    <a:lumMod val="85000"/>
                    <a:lumOff val="15000"/>
                  </a:prstClr>
                </a:solidFill>
                <a:latin typeface="Arial"/>
                <a:cs typeface="Arial"/>
                <a:sym typeface="Arial"/>
              </a:rPr>
              <a:t>Date:15-05-2026</a:t>
            </a: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a:p>
            <a:pPr algn="ctr" defTabSz="1219170">
              <a:buClr>
                <a:srgbClr val="000000"/>
              </a:buClr>
            </a:pPr>
            <a:endParaRPr lang="en-IN" sz="1867" kern="0" dirty="0">
              <a:solidFill>
                <a:prstClr val="black">
                  <a:lumMod val="65000"/>
                  <a:lumOff val="35000"/>
                </a:prstClr>
              </a:solidFill>
              <a:latin typeface="Arial"/>
              <a:cs typeface="Arial"/>
              <a:sym typeface="Arial"/>
            </a:endParaRPr>
          </a:p>
        </p:txBody>
      </p:sp>
    </p:spTree>
    <p:extLst>
      <p:ext uri="{BB962C8B-B14F-4D97-AF65-F5344CB8AC3E}">
        <p14:creationId xmlns:p14="http://schemas.microsoft.com/office/powerpoint/2010/main" val="3071345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Agenda</a:t>
            </a:r>
          </a:p>
        </p:txBody>
      </p:sp>
      <p:sp>
        <p:nvSpPr>
          <p:cNvPr id="6" name="TextBox 5">
            <a:extLst>
              <a:ext uri="{FF2B5EF4-FFF2-40B4-BE49-F238E27FC236}">
                <a16:creationId xmlns:a16="http://schemas.microsoft.com/office/drawing/2014/main" id="{D71397DE-E3E5-2122-DB1A-706DF5D178B9}"/>
              </a:ext>
            </a:extLst>
          </p:cNvPr>
          <p:cNvSpPr txBox="1"/>
          <p:nvPr/>
        </p:nvSpPr>
        <p:spPr>
          <a:xfrm>
            <a:off x="381800" y="1416888"/>
            <a:ext cx="6157450" cy="3139321"/>
          </a:xfrm>
          <a:prstGeom prst="rect">
            <a:avLst/>
          </a:prstGeom>
          <a:noFill/>
        </p:spPr>
        <p:txBody>
          <a:bodyPr wrap="square">
            <a:spAutoFit/>
          </a:bodyPr>
          <a:lstStyle/>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Problem Statement</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Business Objectives</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Dataset Overview</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Data Audit &amp; Cleaning</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KRA &amp; KPI Framework</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Descriptive Analysis</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Diagnostic Analysis</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Predictive Analysis</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Dashboard Insights</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Recommendations</a:t>
            </a:r>
          </a:p>
          <a:p>
            <a:pPr marL="285750" indent="-285750">
              <a:buFont typeface="Wingdings" panose="05000000000000000000" pitchFamily="2" charset="2"/>
              <a:buChar char="v"/>
              <a:defRPr sz="1800"/>
            </a:pPr>
            <a:r>
              <a:rPr lang="en-IN" dirty="0">
                <a:latin typeface="Calibri" panose="020F0502020204030204" pitchFamily="34" charset="0"/>
                <a:cs typeface="Calibri" panose="020F0502020204030204" pitchFamily="34" charset="0"/>
              </a:rPr>
              <a:t> Executive Summary</a:t>
            </a:r>
          </a:p>
        </p:txBody>
      </p:sp>
    </p:spTree>
    <p:extLst>
      <p:ext uri="{BB962C8B-B14F-4D97-AF65-F5344CB8AC3E}">
        <p14:creationId xmlns:p14="http://schemas.microsoft.com/office/powerpoint/2010/main" val="1133671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Problem Statement</a:t>
            </a:r>
          </a:p>
        </p:txBody>
      </p:sp>
      <p:sp>
        <p:nvSpPr>
          <p:cNvPr id="4" name="Rectangle 1">
            <a:extLst>
              <a:ext uri="{FF2B5EF4-FFF2-40B4-BE49-F238E27FC236}">
                <a16:creationId xmlns:a16="http://schemas.microsoft.com/office/drawing/2014/main" id="{006EA5C1-CA1D-DEB9-DC7D-67FD685FD7BA}"/>
              </a:ext>
            </a:extLst>
          </p:cNvPr>
          <p:cNvSpPr>
            <a:spLocks noChangeArrowheads="1"/>
          </p:cNvSpPr>
          <p:nvPr/>
        </p:nvSpPr>
        <p:spPr bwMode="auto">
          <a:xfrm>
            <a:off x="381799" y="3452109"/>
            <a:ext cx="8654658"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Track sales performance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Understand customer </a:t>
            </a:r>
            <a:r>
              <a:rPr lang="en-IN" dirty="0">
                <a:latin typeface="Calibri" panose="020F0502020204030204" pitchFamily="34" charset="0"/>
                <a:cs typeface="Calibri" panose="020F0502020204030204" pitchFamily="34" charset="0"/>
              </a:rPr>
              <a:t>buying trends</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Identify top-performing stores/products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Forecast future profit and revenue </a:t>
            </a:r>
          </a:p>
        </p:txBody>
      </p:sp>
      <p:sp>
        <p:nvSpPr>
          <p:cNvPr id="6" name="TextBox 5">
            <a:extLst>
              <a:ext uri="{FF2B5EF4-FFF2-40B4-BE49-F238E27FC236}">
                <a16:creationId xmlns:a16="http://schemas.microsoft.com/office/drawing/2014/main" id="{B1C8E8DE-7917-E0C8-2BF0-56C4CDD4AB4B}"/>
              </a:ext>
            </a:extLst>
          </p:cNvPr>
          <p:cNvSpPr txBox="1"/>
          <p:nvPr/>
        </p:nvSpPr>
        <p:spPr>
          <a:xfrm>
            <a:off x="381799" y="1328399"/>
            <a:ext cx="11428399" cy="1477328"/>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Chocolate Sales Analysis project aims to evaluate overall sales performance, customer purchasing behaviour, and product profitability using transactional retail data. The analysis focuses on identifying key business trends across different stores, customer segments, and product categories to support strategic decision-making. By leveraging Business Intelligence dashboards, descriptive analytics, and predictive forecasting techniques, the project provides actionable insights that help improve profitability, customer engagement, operational efficiency, and future business growth.</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68368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Business Objective</a:t>
            </a:r>
          </a:p>
        </p:txBody>
      </p:sp>
      <p:sp>
        <p:nvSpPr>
          <p:cNvPr id="6" name="TextBox 5">
            <a:extLst>
              <a:ext uri="{FF2B5EF4-FFF2-40B4-BE49-F238E27FC236}">
                <a16:creationId xmlns:a16="http://schemas.microsoft.com/office/drawing/2014/main" id="{CA1A2168-CDF1-CC06-D893-CF5CD9AE0B56}"/>
              </a:ext>
            </a:extLst>
          </p:cNvPr>
          <p:cNvSpPr txBox="1"/>
          <p:nvPr/>
        </p:nvSpPr>
        <p:spPr>
          <a:xfrm>
            <a:off x="381800" y="1327720"/>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main objective of this project is to improve business performance by analysing sales, profit, customer engagement, and product demand. The project also aims to develop interactive dashboards and forecasting models to support data-driven decision-making and future business growth.</a:t>
            </a:r>
            <a:endParaRPr lang="en-IN"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F287ABD-87C0-7F18-5808-557EBF52E7B4}"/>
              </a:ext>
            </a:extLst>
          </p:cNvPr>
          <p:cNvSpPr txBox="1"/>
          <p:nvPr/>
        </p:nvSpPr>
        <p:spPr>
          <a:xfrm>
            <a:off x="381800" y="2915092"/>
            <a:ext cx="6157450" cy="1477328"/>
          </a:xfrm>
          <a:prstGeom prst="rect">
            <a:avLst/>
          </a:prstGeom>
          <a:noFill/>
        </p:spPr>
        <p:txBody>
          <a:bodyPr wrap="square">
            <a:spAutoFit/>
          </a:bodyPr>
          <a:lstStyle/>
          <a:p>
            <a:pPr marL="285750" indent="-285750">
              <a:buFont typeface="Wingdings" panose="05000000000000000000" pitchFamily="2" charset="2"/>
              <a:buChar char="v"/>
              <a:defRPr sz="1800"/>
            </a:pPr>
            <a:r>
              <a:rPr lang="en-GB" dirty="0">
                <a:latin typeface="Calibri" panose="020F0502020204030204" pitchFamily="34" charset="0"/>
                <a:cs typeface="Calibri" panose="020F0502020204030204" pitchFamily="34" charset="0"/>
              </a:rPr>
              <a:t> Track sales and profitability trends.</a:t>
            </a:r>
          </a:p>
          <a:p>
            <a:pPr marL="285750" indent="-285750">
              <a:buFont typeface="Wingdings" panose="05000000000000000000" pitchFamily="2" charset="2"/>
              <a:buChar char="v"/>
              <a:defRPr sz="1800"/>
            </a:pPr>
            <a:r>
              <a:rPr lang="en-GB" dirty="0">
                <a:latin typeface="Calibri" panose="020F0502020204030204" pitchFamily="34" charset="0"/>
                <a:cs typeface="Calibri" panose="020F0502020204030204" pitchFamily="34" charset="0"/>
              </a:rPr>
              <a:t> Understand customer behaviour and loyalty patterns.</a:t>
            </a:r>
          </a:p>
          <a:p>
            <a:pPr marL="285750" indent="-285750">
              <a:buFont typeface="Wingdings" panose="05000000000000000000" pitchFamily="2" charset="2"/>
              <a:buChar char="v"/>
              <a:defRPr sz="1800"/>
            </a:pPr>
            <a:r>
              <a:rPr lang="en-GB" dirty="0">
                <a:latin typeface="Calibri" panose="020F0502020204030204" pitchFamily="34" charset="0"/>
                <a:cs typeface="Calibri" panose="020F0502020204030204" pitchFamily="34" charset="0"/>
              </a:rPr>
              <a:t> Evaluate impact of discounts on profit margins.</a:t>
            </a:r>
          </a:p>
          <a:p>
            <a:pPr marL="285750" indent="-285750">
              <a:buFont typeface="Wingdings" panose="05000000000000000000" pitchFamily="2" charset="2"/>
              <a:buChar char="v"/>
              <a:defRPr sz="1800"/>
            </a:pPr>
            <a:r>
              <a:rPr lang="en-GB" dirty="0">
                <a:latin typeface="Calibri" panose="020F0502020204030204" pitchFamily="34" charset="0"/>
                <a:cs typeface="Calibri" panose="020F0502020204030204" pitchFamily="34" charset="0"/>
              </a:rPr>
              <a:t> Forecast future sales and revenue.</a:t>
            </a:r>
          </a:p>
          <a:p>
            <a:pPr marL="285750" indent="-285750">
              <a:buFont typeface="Wingdings" panose="05000000000000000000" pitchFamily="2" charset="2"/>
              <a:buChar char="v"/>
              <a:defRPr sz="1800"/>
            </a:pPr>
            <a:r>
              <a:rPr lang="en-GB" dirty="0">
                <a:latin typeface="Calibri" panose="020F0502020204030204" pitchFamily="34" charset="0"/>
                <a:cs typeface="Calibri" panose="020F0502020204030204" pitchFamily="34" charset="0"/>
              </a:rPr>
              <a:t> Build executive dashboards for decision support.</a:t>
            </a:r>
          </a:p>
        </p:txBody>
      </p:sp>
    </p:spTree>
    <p:extLst>
      <p:ext uri="{BB962C8B-B14F-4D97-AF65-F5344CB8AC3E}">
        <p14:creationId xmlns:p14="http://schemas.microsoft.com/office/powerpoint/2010/main" val="3465464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Dataset Overview</a:t>
            </a:r>
          </a:p>
        </p:txBody>
      </p:sp>
      <p:sp>
        <p:nvSpPr>
          <p:cNvPr id="6" name="TextBox 5">
            <a:extLst>
              <a:ext uri="{FF2B5EF4-FFF2-40B4-BE49-F238E27FC236}">
                <a16:creationId xmlns:a16="http://schemas.microsoft.com/office/drawing/2014/main" id="{6CCE3078-9298-5A13-789D-B082A4EC58FD}"/>
              </a:ext>
            </a:extLst>
          </p:cNvPr>
          <p:cNvSpPr txBox="1"/>
          <p:nvPr/>
        </p:nvSpPr>
        <p:spPr>
          <a:xfrm>
            <a:off x="381800" y="1209734"/>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dataset consists of multiple interconnected tables, including Sales, Products, Customers, Stores, and Calendar data. These tables provide detailed information about transactions, product categories, customer demographics, store operations, and time-based sales trends for comprehensive business analysis.</a:t>
            </a:r>
            <a:endParaRPr lang="en-IN"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C2919327-6D36-AA22-8E72-920239397560}"/>
              </a:ext>
            </a:extLst>
          </p:cNvPr>
          <p:cNvGraphicFramePr>
            <a:graphicFrameLocks noGrp="1"/>
          </p:cNvGraphicFramePr>
          <p:nvPr>
            <p:extLst>
              <p:ext uri="{D42A27DB-BD31-4B8C-83A1-F6EECF244321}">
                <p14:modId xmlns:p14="http://schemas.microsoft.com/office/powerpoint/2010/main" val="425409941"/>
              </p:ext>
            </p:extLst>
          </p:nvPr>
        </p:nvGraphicFramePr>
        <p:xfrm>
          <a:off x="572728" y="3362632"/>
          <a:ext cx="11046544" cy="2898343"/>
        </p:xfrm>
        <a:graphic>
          <a:graphicData uri="http://schemas.openxmlformats.org/drawingml/2006/table">
            <a:tbl>
              <a:tblPr firstRow="1" bandRow="1">
                <a:tableStyleId>{5C22544A-7EE6-4342-B048-85BDC9FD1C3A}</a:tableStyleId>
              </a:tblPr>
              <a:tblGrid>
                <a:gridCol w="1917290">
                  <a:extLst>
                    <a:ext uri="{9D8B030D-6E8A-4147-A177-3AD203B41FA5}">
                      <a16:colId xmlns:a16="http://schemas.microsoft.com/office/drawing/2014/main" val="20000"/>
                    </a:ext>
                  </a:extLst>
                </a:gridCol>
                <a:gridCol w="2212258">
                  <a:extLst>
                    <a:ext uri="{9D8B030D-6E8A-4147-A177-3AD203B41FA5}">
                      <a16:colId xmlns:a16="http://schemas.microsoft.com/office/drawing/2014/main" val="20001"/>
                    </a:ext>
                  </a:extLst>
                </a:gridCol>
                <a:gridCol w="2197510">
                  <a:extLst>
                    <a:ext uri="{9D8B030D-6E8A-4147-A177-3AD203B41FA5}">
                      <a16:colId xmlns:a16="http://schemas.microsoft.com/office/drawing/2014/main" val="20002"/>
                    </a:ext>
                  </a:extLst>
                </a:gridCol>
                <a:gridCol w="4719486">
                  <a:extLst>
                    <a:ext uri="{9D8B030D-6E8A-4147-A177-3AD203B41FA5}">
                      <a16:colId xmlns:a16="http://schemas.microsoft.com/office/drawing/2014/main" val="20003"/>
                    </a:ext>
                  </a:extLst>
                </a:gridCol>
              </a:tblGrid>
              <a:tr h="670952">
                <a:tc>
                  <a:txBody>
                    <a:bodyPr/>
                    <a:lstStyle/>
                    <a:p>
                      <a:pPr algn="ctr"/>
                      <a:r>
                        <a:rPr dirty="0"/>
                        <a:t>Table</a:t>
                      </a:r>
                    </a:p>
                  </a:txBody>
                  <a:tcPr>
                    <a:solidFill>
                      <a:srgbClr val="4F81BD"/>
                    </a:solidFill>
                  </a:tcPr>
                </a:tc>
                <a:tc>
                  <a:txBody>
                    <a:bodyPr/>
                    <a:lstStyle/>
                    <a:p>
                      <a:pPr algn="ctr"/>
                      <a:r>
                        <a:t>Rows</a:t>
                      </a:r>
                    </a:p>
                  </a:txBody>
                  <a:tcPr>
                    <a:solidFill>
                      <a:srgbClr val="4F81BD"/>
                    </a:solidFill>
                  </a:tcPr>
                </a:tc>
                <a:tc>
                  <a:txBody>
                    <a:bodyPr/>
                    <a:lstStyle/>
                    <a:p>
                      <a:pPr algn="ctr"/>
                      <a:r>
                        <a:t>Columns</a:t>
                      </a:r>
                    </a:p>
                  </a:txBody>
                  <a:tcPr>
                    <a:solidFill>
                      <a:srgbClr val="4F81BD"/>
                    </a:solidFill>
                  </a:tcPr>
                </a:tc>
                <a:tc>
                  <a:txBody>
                    <a:bodyPr/>
                    <a:lstStyle/>
                    <a:p>
                      <a:pPr algn="ctr"/>
                      <a:r>
                        <a:rPr dirty="0"/>
                        <a:t>Purpose</a:t>
                      </a:r>
                    </a:p>
                  </a:txBody>
                  <a:tcPr>
                    <a:solidFill>
                      <a:srgbClr val="4F81BD"/>
                    </a:solidFill>
                  </a:tcPr>
                </a:tc>
                <a:extLst>
                  <a:ext uri="{0D108BD9-81ED-4DB2-BD59-A6C34878D82A}">
                    <a16:rowId xmlns:a16="http://schemas.microsoft.com/office/drawing/2014/main" val="10000"/>
                  </a:ext>
                </a:extLst>
              </a:tr>
              <a:tr h="488543">
                <a:tc>
                  <a:txBody>
                    <a:bodyPr/>
                    <a:lstStyle/>
                    <a:p>
                      <a:pPr algn="ctr"/>
                      <a:r>
                        <a:t>Sales</a:t>
                      </a:r>
                    </a:p>
                  </a:txBody>
                  <a:tcPr>
                    <a:solidFill>
                      <a:srgbClr val="D0D8E8"/>
                    </a:solidFill>
                  </a:tcPr>
                </a:tc>
                <a:tc>
                  <a:txBody>
                    <a:bodyPr/>
                    <a:lstStyle/>
                    <a:p>
                      <a:pPr algn="ctr"/>
                      <a:r>
                        <a:t>1,000,000</a:t>
                      </a:r>
                    </a:p>
                  </a:txBody>
                  <a:tcPr>
                    <a:solidFill>
                      <a:srgbClr val="D0D8E8"/>
                    </a:solidFill>
                  </a:tcPr>
                </a:tc>
                <a:tc>
                  <a:txBody>
                    <a:bodyPr/>
                    <a:lstStyle/>
                    <a:p>
                      <a:pPr algn="ctr"/>
                      <a:r>
                        <a:t>11</a:t>
                      </a:r>
                    </a:p>
                  </a:txBody>
                  <a:tcPr>
                    <a:solidFill>
                      <a:srgbClr val="D0D8E8"/>
                    </a:solidFill>
                  </a:tcPr>
                </a:tc>
                <a:tc>
                  <a:txBody>
                    <a:bodyPr/>
                    <a:lstStyle/>
                    <a:p>
                      <a:pPr algn="ctr"/>
                      <a:r>
                        <a:rPr dirty="0"/>
                        <a:t>Transaction-level sales data</a:t>
                      </a:r>
                    </a:p>
                  </a:txBody>
                  <a:tcPr>
                    <a:solidFill>
                      <a:srgbClr val="D0D8E8"/>
                    </a:solidFill>
                  </a:tcPr>
                </a:tc>
                <a:extLst>
                  <a:ext uri="{0D108BD9-81ED-4DB2-BD59-A6C34878D82A}">
                    <a16:rowId xmlns:a16="http://schemas.microsoft.com/office/drawing/2014/main" val="10001"/>
                  </a:ext>
                </a:extLst>
              </a:tr>
              <a:tr h="439351">
                <a:tc>
                  <a:txBody>
                    <a:bodyPr/>
                    <a:lstStyle/>
                    <a:p>
                      <a:pPr algn="ctr"/>
                      <a:r>
                        <a:t>Products</a:t>
                      </a:r>
                    </a:p>
                  </a:txBody>
                  <a:tcPr>
                    <a:solidFill>
                      <a:srgbClr val="E9EDF4"/>
                    </a:solidFill>
                  </a:tcPr>
                </a:tc>
                <a:tc>
                  <a:txBody>
                    <a:bodyPr/>
                    <a:lstStyle/>
                    <a:p>
                      <a:pPr algn="ctr"/>
                      <a:r>
                        <a:t>200</a:t>
                      </a:r>
                    </a:p>
                  </a:txBody>
                  <a:tcPr>
                    <a:solidFill>
                      <a:srgbClr val="E9EDF4"/>
                    </a:solidFill>
                  </a:tcPr>
                </a:tc>
                <a:tc>
                  <a:txBody>
                    <a:bodyPr/>
                    <a:lstStyle/>
                    <a:p>
                      <a:pPr algn="ctr"/>
                      <a:r>
                        <a:t>6</a:t>
                      </a:r>
                    </a:p>
                  </a:txBody>
                  <a:tcPr>
                    <a:solidFill>
                      <a:srgbClr val="E9EDF4"/>
                    </a:solidFill>
                  </a:tcPr>
                </a:tc>
                <a:tc>
                  <a:txBody>
                    <a:bodyPr/>
                    <a:lstStyle/>
                    <a:p>
                      <a:pPr algn="ctr"/>
                      <a:r>
                        <a:rPr dirty="0"/>
                        <a:t>Product information</a:t>
                      </a:r>
                    </a:p>
                  </a:txBody>
                  <a:tcPr>
                    <a:solidFill>
                      <a:srgbClr val="E9EDF4"/>
                    </a:solidFill>
                  </a:tcPr>
                </a:tc>
                <a:extLst>
                  <a:ext uri="{0D108BD9-81ED-4DB2-BD59-A6C34878D82A}">
                    <a16:rowId xmlns:a16="http://schemas.microsoft.com/office/drawing/2014/main" val="10002"/>
                  </a:ext>
                </a:extLst>
              </a:tr>
              <a:tr h="488543">
                <a:tc>
                  <a:txBody>
                    <a:bodyPr/>
                    <a:lstStyle/>
                    <a:p>
                      <a:pPr algn="ctr"/>
                      <a:r>
                        <a:t>Customers</a:t>
                      </a:r>
                    </a:p>
                  </a:txBody>
                  <a:tcPr>
                    <a:solidFill>
                      <a:srgbClr val="D0D8E8"/>
                    </a:solidFill>
                  </a:tcPr>
                </a:tc>
                <a:tc>
                  <a:txBody>
                    <a:bodyPr/>
                    <a:lstStyle/>
                    <a:p>
                      <a:pPr algn="ctr"/>
                      <a:r>
                        <a:t>5,000</a:t>
                      </a:r>
                    </a:p>
                  </a:txBody>
                  <a:tcPr>
                    <a:solidFill>
                      <a:srgbClr val="D0D8E8"/>
                    </a:solidFill>
                  </a:tcPr>
                </a:tc>
                <a:tc>
                  <a:txBody>
                    <a:bodyPr/>
                    <a:lstStyle/>
                    <a:p>
                      <a:pPr algn="ctr"/>
                      <a:r>
                        <a:t>5</a:t>
                      </a:r>
                    </a:p>
                  </a:txBody>
                  <a:tcPr>
                    <a:solidFill>
                      <a:srgbClr val="D0D8E8"/>
                    </a:solidFill>
                  </a:tcPr>
                </a:tc>
                <a:tc>
                  <a:txBody>
                    <a:bodyPr/>
                    <a:lstStyle/>
                    <a:p>
                      <a:pPr algn="ctr"/>
                      <a:r>
                        <a:rPr dirty="0"/>
                        <a:t>Customer demographics</a:t>
                      </a:r>
                    </a:p>
                  </a:txBody>
                  <a:tcPr>
                    <a:solidFill>
                      <a:srgbClr val="D0D8E8"/>
                    </a:solidFill>
                  </a:tcPr>
                </a:tc>
                <a:extLst>
                  <a:ext uri="{0D108BD9-81ED-4DB2-BD59-A6C34878D82A}">
                    <a16:rowId xmlns:a16="http://schemas.microsoft.com/office/drawing/2014/main" val="10003"/>
                  </a:ext>
                </a:extLst>
              </a:tr>
              <a:tr h="405477">
                <a:tc>
                  <a:txBody>
                    <a:bodyPr/>
                    <a:lstStyle/>
                    <a:p>
                      <a:pPr algn="ctr"/>
                      <a:r>
                        <a:t>Stores</a:t>
                      </a:r>
                    </a:p>
                  </a:txBody>
                  <a:tcPr>
                    <a:solidFill>
                      <a:srgbClr val="E9EDF4"/>
                    </a:solidFill>
                  </a:tcPr>
                </a:tc>
                <a:tc>
                  <a:txBody>
                    <a:bodyPr/>
                    <a:lstStyle/>
                    <a:p>
                      <a:pPr algn="ctr"/>
                      <a:r>
                        <a:t>100</a:t>
                      </a:r>
                    </a:p>
                  </a:txBody>
                  <a:tcPr>
                    <a:solidFill>
                      <a:srgbClr val="E9EDF4"/>
                    </a:solidFill>
                  </a:tcPr>
                </a:tc>
                <a:tc>
                  <a:txBody>
                    <a:bodyPr/>
                    <a:lstStyle/>
                    <a:p>
                      <a:pPr algn="ctr"/>
                      <a:r>
                        <a:t>5</a:t>
                      </a:r>
                    </a:p>
                  </a:txBody>
                  <a:tcPr>
                    <a:solidFill>
                      <a:srgbClr val="E9EDF4"/>
                    </a:solidFill>
                  </a:tcPr>
                </a:tc>
                <a:tc>
                  <a:txBody>
                    <a:bodyPr/>
                    <a:lstStyle/>
                    <a:p>
                      <a:pPr algn="ctr"/>
                      <a:r>
                        <a:rPr dirty="0"/>
                        <a:t>Store details</a:t>
                      </a:r>
                    </a:p>
                  </a:txBody>
                  <a:tcPr>
                    <a:solidFill>
                      <a:srgbClr val="E9EDF4"/>
                    </a:solidFill>
                  </a:tcPr>
                </a:tc>
                <a:extLst>
                  <a:ext uri="{0D108BD9-81ED-4DB2-BD59-A6C34878D82A}">
                    <a16:rowId xmlns:a16="http://schemas.microsoft.com/office/drawing/2014/main" val="10004"/>
                  </a:ext>
                </a:extLst>
              </a:tr>
              <a:tr h="405477">
                <a:tc>
                  <a:txBody>
                    <a:bodyPr/>
                    <a:lstStyle/>
                    <a:p>
                      <a:pPr algn="ctr"/>
                      <a:r>
                        <a:t>Calendar</a:t>
                      </a:r>
                    </a:p>
                  </a:txBody>
                  <a:tcPr>
                    <a:solidFill>
                      <a:srgbClr val="D0D8E8"/>
                    </a:solidFill>
                  </a:tcPr>
                </a:tc>
                <a:tc>
                  <a:txBody>
                    <a:bodyPr/>
                    <a:lstStyle/>
                    <a:p>
                      <a:pPr algn="ctr"/>
                      <a:r>
                        <a:rPr dirty="0"/>
                        <a:t>731</a:t>
                      </a:r>
                    </a:p>
                  </a:txBody>
                  <a:tcPr>
                    <a:solidFill>
                      <a:srgbClr val="D0D8E8"/>
                    </a:solidFill>
                  </a:tcPr>
                </a:tc>
                <a:tc>
                  <a:txBody>
                    <a:bodyPr/>
                    <a:lstStyle/>
                    <a:p>
                      <a:pPr algn="ctr"/>
                      <a:r>
                        <a:t>6</a:t>
                      </a:r>
                    </a:p>
                  </a:txBody>
                  <a:tcPr>
                    <a:solidFill>
                      <a:srgbClr val="D0D8E8"/>
                    </a:solidFill>
                  </a:tcPr>
                </a:tc>
                <a:tc>
                  <a:txBody>
                    <a:bodyPr/>
                    <a:lstStyle/>
                    <a:p>
                      <a:pPr algn="ctr"/>
                      <a:r>
                        <a:rPr dirty="0"/>
                        <a:t>Date intelligence</a:t>
                      </a:r>
                    </a:p>
                  </a:txBody>
                  <a:tcPr>
                    <a:solidFill>
                      <a:srgbClr val="D0D8E8"/>
                    </a:solidFill>
                  </a:tcPr>
                </a:tc>
                <a:extLst>
                  <a:ext uri="{0D108BD9-81ED-4DB2-BD59-A6C34878D82A}">
                    <a16:rowId xmlns:a16="http://schemas.microsoft.com/office/drawing/2014/main" val="10005"/>
                  </a:ext>
                </a:extLst>
              </a:tr>
            </a:tbl>
          </a:graphicData>
        </a:graphic>
      </p:graphicFrame>
      <p:sp>
        <p:nvSpPr>
          <p:cNvPr id="10" name="TextBox 9">
            <a:extLst>
              <a:ext uri="{FF2B5EF4-FFF2-40B4-BE49-F238E27FC236}">
                <a16:creationId xmlns:a16="http://schemas.microsoft.com/office/drawing/2014/main" id="{2DDBEAED-BDB6-D488-67A5-32BC21D85D51}"/>
              </a:ext>
            </a:extLst>
          </p:cNvPr>
          <p:cNvSpPr txBox="1"/>
          <p:nvPr/>
        </p:nvSpPr>
        <p:spPr>
          <a:xfrm>
            <a:off x="1451488" y="2330487"/>
            <a:ext cx="1911143" cy="646331"/>
          </a:xfrm>
          <a:prstGeom prst="rect">
            <a:avLst/>
          </a:prstGeom>
          <a:solidFill>
            <a:srgbClr val="4F81BD"/>
          </a:solidFill>
        </p:spPr>
        <p:style>
          <a:lnRef idx="2">
            <a:schemeClr val="dk1">
              <a:shade val="15000"/>
            </a:schemeClr>
          </a:lnRef>
          <a:fillRef idx="1">
            <a:schemeClr val="dk1"/>
          </a:fillRef>
          <a:effectRef idx="0">
            <a:schemeClr val="dk1"/>
          </a:effectRef>
          <a:fontRef idx="minor">
            <a:schemeClr val="lt1"/>
          </a:fontRef>
        </p:style>
        <p:txBody>
          <a:bodyPr wrap="square">
            <a:spAutoFit/>
          </a:bodyPr>
          <a:lstStyle/>
          <a:p>
            <a:pPr algn="ctr"/>
            <a:r>
              <a:rPr lang="en-IN" sz="1800" b="1" i="0" u="none" strike="noStrike" dirty="0">
                <a:solidFill>
                  <a:schemeClr val="bg1"/>
                </a:solidFill>
                <a:effectLst/>
                <a:latin typeface="Aptos Narrow" panose="020B0004020202020204" pitchFamily="34" charset="0"/>
              </a:rPr>
              <a:t>Total Table</a:t>
            </a:r>
            <a:br>
              <a:rPr lang="en-IN" sz="1800" b="1" i="0" u="none" strike="noStrike" dirty="0">
                <a:solidFill>
                  <a:schemeClr val="bg1"/>
                </a:solidFill>
                <a:effectLst/>
                <a:latin typeface="Aptos Narrow" panose="020B0004020202020204" pitchFamily="34" charset="0"/>
              </a:rPr>
            </a:br>
            <a:r>
              <a:rPr lang="en-IN" sz="1800" b="1" i="0" u="none" strike="noStrike" dirty="0">
                <a:solidFill>
                  <a:schemeClr val="bg1"/>
                </a:solidFill>
                <a:effectLst/>
                <a:latin typeface="Aptos Narrow" panose="020B0004020202020204" pitchFamily="34" charset="0"/>
              </a:rPr>
              <a:t>5</a:t>
            </a:r>
            <a:r>
              <a:rPr lang="en-IN" b="1" dirty="0">
                <a:solidFill>
                  <a:schemeClr val="bg1"/>
                </a:solidFill>
              </a:rPr>
              <a:t> </a:t>
            </a:r>
          </a:p>
        </p:txBody>
      </p:sp>
      <p:sp>
        <p:nvSpPr>
          <p:cNvPr id="11" name="TextBox 10">
            <a:extLst>
              <a:ext uri="{FF2B5EF4-FFF2-40B4-BE49-F238E27FC236}">
                <a16:creationId xmlns:a16="http://schemas.microsoft.com/office/drawing/2014/main" id="{3CADA9AE-B285-19C6-0E48-3CF4A9EA516C}"/>
              </a:ext>
            </a:extLst>
          </p:cNvPr>
          <p:cNvSpPr txBox="1"/>
          <p:nvPr/>
        </p:nvSpPr>
        <p:spPr>
          <a:xfrm>
            <a:off x="4732389" y="2335701"/>
            <a:ext cx="2097958" cy="646331"/>
          </a:xfrm>
          <a:prstGeom prst="rect">
            <a:avLst/>
          </a:prstGeom>
          <a:solidFill>
            <a:srgbClr val="4F81BD"/>
          </a:solidFill>
        </p:spPr>
        <p:txBody>
          <a:bodyPr wrap="square">
            <a:spAutoFit/>
          </a:bodyPr>
          <a:lstStyle/>
          <a:p>
            <a:pPr algn="ctr"/>
            <a:r>
              <a:rPr lang="en-IN" sz="1800" b="0" i="0" u="none" strike="noStrike" dirty="0">
                <a:solidFill>
                  <a:schemeClr val="bg1"/>
                </a:solidFill>
                <a:effectLst/>
                <a:latin typeface="Aptos Narrow" panose="020B0004020202020204" pitchFamily="34" charset="0"/>
              </a:rPr>
              <a:t>Total </a:t>
            </a:r>
            <a:r>
              <a:rPr lang="en-IN" sz="1800" b="1" i="0" u="none" strike="noStrike" dirty="0">
                <a:solidFill>
                  <a:schemeClr val="bg1"/>
                </a:solidFill>
                <a:effectLst/>
                <a:latin typeface="Aptos Narrow" panose="020B0004020202020204" pitchFamily="34" charset="0"/>
              </a:rPr>
              <a:t>Column</a:t>
            </a:r>
            <a:br>
              <a:rPr lang="en-IN" sz="1800" b="0" i="0" u="none" strike="noStrike" dirty="0">
                <a:solidFill>
                  <a:schemeClr val="bg1"/>
                </a:solidFill>
                <a:effectLst/>
                <a:latin typeface="Aptos Narrow" panose="020B0004020202020204" pitchFamily="34" charset="0"/>
              </a:rPr>
            </a:br>
            <a:r>
              <a:rPr lang="en-IN" sz="1800" b="0" i="0" u="none" strike="noStrike" dirty="0">
                <a:solidFill>
                  <a:schemeClr val="bg1"/>
                </a:solidFill>
                <a:effectLst/>
                <a:latin typeface="Aptos Narrow" panose="020B0004020202020204" pitchFamily="34" charset="0"/>
              </a:rPr>
              <a:t>33</a:t>
            </a:r>
            <a:r>
              <a:rPr lang="en-IN" dirty="0">
                <a:solidFill>
                  <a:schemeClr val="bg1"/>
                </a:solidFill>
              </a:rPr>
              <a:t> </a:t>
            </a:r>
          </a:p>
        </p:txBody>
      </p:sp>
      <p:sp>
        <p:nvSpPr>
          <p:cNvPr id="12" name="TextBox 11">
            <a:extLst>
              <a:ext uri="{FF2B5EF4-FFF2-40B4-BE49-F238E27FC236}">
                <a16:creationId xmlns:a16="http://schemas.microsoft.com/office/drawing/2014/main" id="{20FDC8B9-73E6-4D08-D21A-6FA5670D991F}"/>
              </a:ext>
            </a:extLst>
          </p:cNvPr>
          <p:cNvSpPr txBox="1"/>
          <p:nvPr/>
        </p:nvSpPr>
        <p:spPr>
          <a:xfrm>
            <a:off x="7906364" y="2330487"/>
            <a:ext cx="2421192" cy="646331"/>
          </a:xfrm>
          <a:prstGeom prst="rect">
            <a:avLst/>
          </a:prstGeom>
          <a:solidFill>
            <a:srgbClr val="4F81BD"/>
          </a:solidFill>
        </p:spPr>
        <p:txBody>
          <a:bodyPr wrap="square">
            <a:spAutoFit/>
          </a:bodyPr>
          <a:lstStyle/>
          <a:p>
            <a:pPr algn="ctr"/>
            <a:r>
              <a:rPr lang="en-IN" sz="1800" b="1" i="0" u="none" strike="noStrike" dirty="0">
                <a:solidFill>
                  <a:schemeClr val="bg1"/>
                </a:solidFill>
                <a:effectLst/>
                <a:latin typeface="Aptos Narrow" panose="020B0004020202020204" pitchFamily="34" charset="0"/>
              </a:rPr>
              <a:t>Total Rows</a:t>
            </a:r>
            <a:br>
              <a:rPr lang="en-IN" sz="1800" b="1" i="0" u="none" strike="noStrike" dirty="0">
                <a:solidFill>
                  <a:schemeClr val="bg1"/>
                </a:solidFill>
                <a:effectLst/>
                <a:latin typeface="Aptos Narrow" panose="020B0004020202020204" pitchFamily="34" charset="0"/>
              </a:rPr>
            </a:br>
            <a:r>
              <a:rPr lang="en-IN" sz="1800" b="1" i="0" u="none" strike="noStrike" dirty="0">
                <a:solidFill>
                  <a:schemeClr val="bg1"/>
                </a:solidFill>
                <a:effectLst/>
                <a:latin typeface="Aptos Narrow" panose="020B0004020202020204" pitchFamily="34" charset="0"/>
              </a:rPr>
              <a:t>1006031</a:t>
            </a:r>
            <a:r>
              <a:rPr lang="en-IN" b="1" dirty="0">
                <a:solidFill>
                  <a:schemeClr val="bg1"/>
                </a:solidFill>
              </a:rPr>
              <a:t> </a:t>
            </a:r>
          </a:p>
        </p:txBody>
      </p:sp>
    </p:spTree>
    <p:extLst>
      <p:ext uri="{BB962C8B-B14F-4D97-AF65-F5344CB8AC3E}">
        <p14:creationId xmlns:p14="http://schemas.microsoft.com/office/powerpoint/2010/main" val="3308629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 Structure – Sales Table</a:t>
            </a:r>
          </a:p>
        </p:txBody>
      </p:sp>
      <p:graphicFrame>
        <p:nvGraphicFramePr>
          <p:cNvPr id="7" name="Table 6">
            <a:extLst>
              <a:ext uri="{FF2B5EF4-FFF2-40B4-BE49-F238E27FC236}">
                <a16:creationId xmlns:a16="http://schemas.microsoft.com/office/drawing/2014/main" id="{F8D8F5BE-1FE9-4FEF-E6A1-914AAA91BD02}"/>
              </a:ext>
            </a:extLst>
          </p:cNvPr>
          <p:cNvGraphicFramePr>
            <a:graphicFrameLocks noGrp="1"/>
          </p:cNvGraphicFramePr>
          <p:nvPr>
            <p:extLst>
              <p:ext uri="{D42A27DB-BD31-4B8C-83A1-F6EECF244321}">
                <p14:modId xmlns:p14="http://schemas.microsoft.com/office/powerpoint/2010/main" val="2310327734"/>
              </p:ext>
            </p:extLst>
          </p:nvPr>
        </p:nvGraphicFramePr>
        <p:xfrm>
          <a:off x="381798" y="2148178"/>
          <a:ext cx="11428398" cy="4060894"/>
        </p:xfrm>
        <a:graphic>
          <a:graphicData uri="http://schemas.openxmlformats.org/drawingml/2006/table">
            <a:tbl>
              <a:tblPr firstRow="1"/>
              <a:tblGrid>
                <a:gridCol w="3809466">
                  <a:extLst>
                    <a:ext uri="{9D8B030D-6E8A-4147-A177-3AD203B41FA5}">
                      <a16:colId xmlns:a16="http://schemas.microsoft.com/office/drawing/2014/main" val="1307303660"/>
                    </a:ext>
                  </a:extLst>
                </a:gridCol>
                <a:gridCol w="3809466">
                  <a:extLst>
                    <a:ext uri="{9D8B030D-6E8A-4147-A177-3AD203B41FA5}">
                      <a16:colId xmlns:a16="http://schemas.microsoft.com/office/drawing/2014/main" val="2494759210"/>
                    </a:ext>
                  </a:extLst>
                </a:gridCol>
                <a:gridCol w="3809466">
                  <a:extLst>
                    <a:ext uri="{9D8B030D-6E8A-4147-A177-3AD203B41FA5}">
                      <a16:colId xmlns:a16="http://schemas.microsoft.com/office/drawing/2014/main" val="2891119616"/>
                    </a:ext>
                  </a:extLst>
                </a:gridCol>
              </a:tblGrid>
              <a:tr h="495805">
                <a:tc>
                  <a:txBody>
                    <a:bodyPr/>
                    <a:lstStyle/>
                    <a:p>
                      <a:pPr algn="ctr"/>
                      <a:r>
                        <a:rPr lang="en-IN" sz="1500" b="1" dirty="0">
                          <a:solidFill>
                            <a:schemeClr val="bg1"/>
                          </a:solidFill>
                          <a:latin typeface="Calibri" panose="020F0502020204030204" pitchFamily="34" charset="0"/>
                          <a:cs typeface="Calibri" panose="020F0502020204030204" pitchFamily="34" charset="0"/>
                        </a:rPr>
                        <a:t>Column Name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GB" sz="1500" b="1" dirty="0">
                          <a:solidFill>
                            <a:schemeClr val="bg1"/>
                          </a:solidFill>
                          <a:latin typeface="Calibri" panose="020F0502020204030204" pitchFamily="34" charset="0"/>
                          <a:cs typeface="Calibri" panose="020F0502020204030204" pitchFamily="34" charset="0"/>
                        </a:rPr>
                        <a:t>Data Type</a:t>
                      </a:r>
                      <a:endParaRPr lang="en-IN" sz="1500" b="1" dirty="0">
                        <a:solidFill>
                          <a:schemeClr val="bg1"/>
                        </a:solidFill>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IN" sz="1500" b="1" dirty="0">
                          <a:solidFill>
                            <a:schemeClr val="bg1"/>
                          </a:solidFill>
                          <a:latin typeface="Calibri" panose="020F0502020204030204" pitchFamily="34" charset="0"/>
                          <a:cs typeface="Calibri" panose="020F0502020204030204" pitchFamily="34" charset="0"/>
                        </a:rPr>
                        <a:t>Description</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extLst>
                  <a:ext uri="{0D108BD9-81ED-4DB2-BD59-A6C34878D82A}">
                    <a16:rowId xmlns:a16="http://schemas.microsoft.com/office/drawing/2014/main" val="3610194406"/>
                  </a:ext>
                </a:extLst>
              </a:tr>
              <a:tr h="324099">
                <a:tc>
                  <a:txBody>
                    <a:bodyPr/>
                    <a:lstStyle/>
                    <a:p>
                      <a:pPr algn="ctr"/>
                      <a:r>
                        <a:rPr lang="en-IN" sz="1500" b="0" dirty="0" err="1">
                          <a:latin typeface="Calibri" panose="020F0502020204030204" pitchFamily="34" charset="0"/>
                          <a:cs typeface="Calibri" panose="020F0502020204030204" pitchFamily="34" charset="0"/>
                        </a:rPr>
                        <a:t>order_id</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500" b="0" dirty="0">
                          <a:latin typeface="Calibri" panose="020F0502020204030204" pitchFamily="34" charset="0"/>
                          <a:cs typeface="Calibri" panose="020F0502020204030204" pitchFamily="34" charset="0"/>
                        </a:rPr>
                        <a:t>Varchar</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IN" sz="1500" b="0" dirty="0">
                          <a:latin typeface="Calibri" panose="020F0502020204030204" pitchFamily="34" charset="0"/>
                          <a:cs typeface="Calibri" panose="020F0502020204030204" pitchFamily="34" charset="0"/>
                        </a:rPr>
                        <a:t>Unique order identifier</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3108553302"/>
                  </a:ext>
                </a:extLst>
              </a:tr>
              <a:tr h="324099">
                <a:tc>
                  <a:txBody>
                    <a:bodyPr/>
                    <a:lstStyle/>
                    <a:p>
                      <a:pPr algn="ctr"/>
                      <a:r>
                        <a:rPr lang="en-IN" sz="1500" b="0">
                          <a:latin typeface="Calibri" panose="020F0502020204030204" pitchFamily="34" charset="0"/>
                          <a:cs typeface="Calibri" panose="020F0502020204030204" pitchFamily="34" charset="0"/>
                        </a:rPr>
                        <a:t>order_date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500" b="0" dirty="0">
                          <a:latin typeface="Calibri" panose="020F0502020204030204" pitchFamily="34" charset="0"/>
                          <a:cs typeface="Calibri" panose="020F0502020204030204" pitchFamily="34" charset="0"/>
                        </a:rPr>
                        <a:t>Date</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IN" sz="1500" b="0" dirty="0">
                          <a:latin typeface="Calibri" panose="020F0502020204030204" pitchFamily="34" charset="0"/>
                          <a:cs typeface="Calibri" panose="020F0502020204030204" pitchFamily="34" charset="0"/>
                        </a:rPr>
                        <a:t>Date of purchase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3943454958"/>
                  </a:ext>
                </a:extLst>
              </a:tr>
              <a:tr h="324099">
                <a:tc>
                  <a:txBody>
                    <a:bodyPr/>
                    <a:lstStyle/>
                    <a:p>
                      <a:pPr algn="ctr"/>
                      <a:r>
                        <a:rPr lang="en-IN" sz="1500" b="0" dirty="0" err="1">
                          <a:latin typeface="Calibri" panose="020F0502020204030204" pitchFamily="34" charset="0"/>
                          <a:cs typeface="Calibri" panose="020F0502020204030204" pitchFamily="34" charset="0"/>
                        </a:rPr>
                        <a:t>product_id</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500" b="0" dirty="0">
                          <a:latin typeface="Calibri" panose="020F0502020204030204" pitchFamily="34" charset="0"/>
                          <a:cs typeface="Calibri" panose="020F0502020204030204" pitchFamily="34" charset="0"/>
                        </a:rPr>
                        <a:t>Varchar</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IN" sz="1500" b="0" dirty="0">
                          <a:latin typeface="Calibri" panose="020F0502020204030204" pitchFamily="34" charset="0"/>
                          <a:cs typeface="Calibri" panose="020F0502020204030204" pitchFamily="34" charset="0"/>
                        </a:rPr>
                        <a:t>Product identifier</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1926962433"/>
                  </a:ext>
                </a:extLst>
              </a:tr>
              <a:tr h="324099">
                <a:tc>
                  <a:txBody>
                    <a:bodyPr/>
                    <a:lstStyle/>
                    <a:p>
                      <a:pPr algn="ctr"/>
                      <a:r>
                        <a:rPr lang="en-IN" sz="1500" b="0" dirty="0" err="1">
                          <a:latin typeface="Calibri" panose="020F0502020204030204" pitchFamily="34" charset="0"/>
                          <a:cs typeface="Calibri" panose="020F0502020204030204" pitchFamily="34" charset="0"/>
                        </a:rPr>
                        <a:t>store_id</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500" b="0" dirty="0">
                          <a:latin typeface="Calibri" panose="020F0502020204030204" pitchFamily="34" charset="0"/>
                          <a:cs typeface="Calibri" panose="020F0502020204030204" pitchFamily="34" charset="0"/>
                        </a:rPr>
                        <a:t>Varchar</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IN" sz="1500" b="0" dirty="0">
                          <a:latin typeface="Calibri" panose="020F0502020204030204" pitchFamily="34" charset="0"/>
                          <a:cs typeface="Calibri" panose="020F0502020204030204" pitchFamily="34" charset="0"/>
                        </a:rPr>
                        <a:t>Store identifier</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214807822"/>
                  </a:ext>
                </a:extLst>
              </a:tr>
              <a:tr h="324099">
                <a:tc>
                  <a:txBody>
                    <a:bodyPr/>
                    <a:lstStyle/>
                    <a:p>
                      <a:pPr algn="ctr"/>
                      <a:r>
                        <a:rPr lang="en-IN" sz="1500" b="0">
                          <a:latin typeface="Calibri" panose="020F0502020204030204" pitchFamily="34" charset="0"/>
                          <a:cs typeface="Calibri" panose="020F0502020204030204" pitchFamily="34" charset="0"/>
                        </a:rPr>
                        <a:t>customer_id</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500" b="0" dirty="0">
                          <a:latin typeface="Calibri" panose="020F0502020204030204" pitchFamily="34" charset="0"/>
                          <a:cs typeface="Calibri" panose="020F0502020204030204" pitchFamily="34" charset="0"/>
                        </a:rPr>
                        <a:t>Varchar</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IN" sz="1500" b="0" dirty="0">
                          <a:latin typeface="Calibri" panose="020F0502020204030204" pitchFamily="34" charset="0"/>
                          <a:cs typeface="Calibri" panose="020F0502020204030204" pitchFamily="34" charset="0"/>
                        </a:rPr>
                        <a:t>Customer identifier</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2629854835"/>
                  </a:ext>
                </a:extLst>
              </a:tr>
              <a:tr h="324099">
                <a:tc>
                  <a:txBody>
                    <a:bodyPr/>
                    <a:lstStyle/>
                    <a:p>
                      <a:pPr algn="ctr"/>
                      <a:r>
                        <a:rPr lang="en-IN" sz="1500" b="0" dirty="0">
                          <a:latin typeface="Calibri" panose="020F0502020204030204" pitchFamily="34" charset="0"/>
                          <a:cs typeface="Calibri" panose="020F0502020204030204" pitchFamily="34" charset="0"/>
                        </a:rPr>
                        <a:t>quantity</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500" b="0" dirty="0">
                          <a:latin typeface="Calibri" panose="020F0502020204030204" pitchFamily="34" charset="0"/>
                          <a:cs typeface="Calibri" panose="020F0502020204030204" pitchFamily="34" charset="0"/>
                        </a:rPr>
                        <a:t>Int</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IN" sz="1500" b="0" dirty="0">
                          <a:latin typeface="Calibri" panose="020F0502020204030204" pitchFamily="34" charset="0"/>
                          <a:cs typeface="Calibri" panose="020F0502020204030204" pitchFamily="34" charset="0"/>
                        </a:rPr>
                        <a:t>Number of items sold</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4185501070"/>
                  </a:ext>
                </a:extLst>
              </a:tr>
              <a:tr h="324099">
                <a:tc>
                  <a:txBody>
                    <a:bodyPr/>
                    <a:lstStyle/>
                    <a:p>
                      <a:pPr algn="ctr"/>
                      <a:r>
                        <a:rPr lang="en-IN" sz="1500" b="0">
                          <a:latin typeface="Calibri" panose="020F0502020204030204" pitchFamily="34" charset="0"/>
                          <a:cs typeface="Calibri" panose="020F0502020204030204" pitchFamily="34" charset="0"/>
                        </a:rPr>
                        <a:t>unit_price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500" b="0" dirty="0">
                          <a:latin typeface="Calibri" panose="020F0502020204030204" pitchFamily="34" charset="0"/>
                          <a:cs typeface="Calibri" panose="020F0502020204030204" pitchFamily="34" charset="0"/>
                        </a:rPr>
                        <a:t>Float</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IN" sz="1500" b="0" dirty="0">
                          <a:latin typeface="Calibri" panose="020F0502020204030204" pitchFamily="34" charset="0"/>
                          <a:cs typeface="Calibri" panose="020F0502020204030204" pitchFamily="34" charset="0"/>
                        </a:rPr>
                        <a:t>Price per unit</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4280639588"/>
                  </a:ext>
                </a:extLst>
              </a:tr>
              <a:tr h="324099">
                <a:tc>
                  <a:txBody>
                    <a:bodyPr/>
                    <a:lstStyle/>
                    <a:p>
                      <a:pPr algn="ctr"/>
                      <a:r>
                        <a:rPr lang="en-IN" sz="1500" b="0">
                          <a:latin typeface="Calibri" panose="020F0502020204030204" pitchFamily="34" charset="0"/>
                          <a:cs typeface="Calibri" panose="020F0502020204030204" pitchFamily="34" charset="0"/>
                        </a:rPr>
                        <a:t>discount</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500" b="0" dirty="0">
                          <a:latin typeface="Calibri" panose="020F0502020204030204" pitchFamily="34" charset="0"/>
                          <a:cs typeface="Calibri" panose="020F0502020204030204" pitchFamily="34" charset="0"/>
                        </a:rPr>
                        <a:t>Float</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IN" sz="1500" b="0" dirty="0">
                          <a:latin typeface="Calibri" panose="020F0502020204030204" pitchFamily="34" charset="0"/>
                          <a:cs typeface="Calibri" panose="020F0502020204030204" pitchFamily="34" charset="0"/>
                        </a:rPr>
                        <a:t>Discount applied</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2674556397"/>
                  </a:ext>
                </a:extLst>
              </a:tr>
              <a:tr h="324099">
                <a:tc>
                  <a:txBody>
                    <a:bodyPr/>
                    <a:lstStyle/>
                    <a:p>
                      <a:pPr algn="ctr"/>
                      <a:r>
                        <a:rPr lang="en-IN" sz="1500" b="0">
                          <a:latin typeface="Calibri" panose="020F0502020204030204" pitchFamily="34" charset="0"/>
                          <a:cs typeface="Calibri" panose="020F0502020204030204" pitchFamily="34" charset="0"/>
                        </a:rPr>
                        <a:t>revenue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500" b="0" dirty="0">
                          <a:latin typeface="Calibri" panose="020F0502020204030204" pitchFamily="34" charset="0"/>
                          <a:cs typeface="Calibri" panose="020F0502020204030204" pitchFamily="34" charset="0"/>
                        </a:rPr>
                        <a:t>Float</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IN" sz="1500" b="0" dirty="0">
                          <a:latin typeface="Calibri" panose="020F0502020204030204" pitchFamily="34" charset="0"/>
                          <a:cs typeface="Calibri" panose="020F0502020204030204" pitchFamily="34" charset="0"/>
                        </a:rPr>
                        <a:t>Revenue after discount</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4101356010"/>
                  </a:ext>
                </a:extLst>
              </a:tr>
              <a:tr h="324099">
                <a:tc>
                  <a:txBody>
                    <a:bodyPr/>
                    <a:lstStyle/>
                    <a:p>
                      <a:pPr algn="ctr"/>
                      <a:r>
                        <a:rPr lang="en-IN" sz="1500" b="0">
                          <a:latin typeface="Calibri" panose="020F0502020204030204" pitchFamily="34" charset="0"/>
                          <a:cs typeface="Calibri" panose="020F0502020204030204" pitchFamily="34" charset="0"/>
                        </a:rPr>
                        <a:t>cost</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500" b="0" dirty="0">
                          <a:latin typeface="Calibri" panose="020F0502020204030204" pitchFamily="34" charset="0"/>
                          <a:cs typeface="Calibri" panose="020F0502020204030204" pitchFamily="34" charset="0"/>
                        </a:rPr>
                        <a:t>Float</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IN" sz="1500" b="0" dirty="0">
                          <a:latin typeface="Calibri" panose="020F0502020204030204" pitchFamily="34" charset="0"/>
                          <a:cs typeface="Calibri" panose="020F0502020204030204" pitchFamily="34" charset="0"/>
                        </a:rPr>
                        <a:t>Estimated product cost</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3656577344"/>
                  </a:ext>
                </a:extLst>
              </a:tr>
              <a:tr h="324099">
                <a:tc>
                  <a:txBody>
                    <a:bodyPr/>
                    <a:lstStyle/>
                    <a:p>
                      <a:pPr algn="ctr"/>
                      <a:r>
                        <a:rPr lang="en-IN" sz="1500" b="0">
                          <a:latin typeface="Calibri" panose="020F0502020204030204" pitchFamily="34" charset="0"/>
                          <a:cs typeface="Calibri" panose="020F0502020204030204" pitchFamily="34" charset="0"/>
                        </a:rPr>
                        <a:t>profit</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500" b="0" dirty="0">
                          <a:latin typeface="Calibri" panose="020F0502020204030204" pitchFamily="34" charset="0"/>
                          <a:cs typeface="Calibri" panose="020F0502020204030204" pitchFamily="34" charset="0"/>
                        </a:rPr>
                        <a:t>Float</a:t>
                      </a:r>
                      <a:endParaRPr lang="en-IN" sz="15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IN" sz="1500" b="0" dirty="0">
                          <a:latin typeface="Calibri" panose="020F0502020204030204" pitchFamily="34" charset="0"/>
                          <a:cs typeface="Calibri" panose="020F0502020204030204" pitchFamily="34" charset="0"/>
                        </a:rPr>
                        <a:t>Profit from transaction</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1057429063"/>
                  </a:ext>
                </a:extLst>
              </a:tr>
            </a:tbl>
          </a:graphicData>
        </a:graphic>
      </p:graphicFrame>
      <p:sp>
        <p:nvSpPr>
          <p:cNvPr id="9" name="TextBox 8">
            <a:extLst>
              <a:ext uri="{FF2B5EF4-FFF2-40B4-BE49-F238E27FC236}">
                <a16:creationId xmlns:a16="http://schemas.microsoft.com/office/drawing/2014/main" id="{04BE84EC-E206-7624-68A7-F306BAC6217E}"/>
              </a:ext>
            </a:extLst>
          </p:cNvPr>
          <p:cNvSpPr txBox="1"/>
          <p:nvPr/>
        </p:nvSpPr>
        <p:spPr>
          <a:xfrm>
            <a:off x="381798" y="1032753"/>
            <a:ext cx="11428397"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Sales table is the primary fact table containing detailed transaction-level data for all chocolate sales. It includes information such as order details, product purchases, quantity sold, revenue, cost, discount, and profit, which are used for overall business performance analysis.</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0527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 Structure – Products Table</a:t>
            </a:r>
          </a:p>
        </p:txBody>
      </p:sp>
      <p:sp>
        <p:nvSpPr>
          <p:cNvPr id="4" name="TextBox 3">
            <a:extLst>
              <a:ext uri="{FF2B5EF4-FFF2-40B4-BE49-F238E27FC236}">
                <a16:creationId xmlns:a16="http://schemas.microsoft.com/office/drawing/2014/main" id="{BAEABF04-F04C-CE68-289B-E23BBB86A49D}"/>
              </a:ext>
            </a:extLst>
          </p:cNvPr>
          <p:cNvSpPr txBox="1"/>
          <p:nvPr/>
        </p:nvSpPr>
        <p:spPr>
          <a:xfrm>
            <a:off x="381799" y="1082761"/>
            <a:ext cx="11428399"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Products table contains detailed information about chocolate products, including product name, category, brand, cocoa percentage, and weight. This table helps analyse product performance, category-wise sales trends, and profitability.</a:t>
            </a:r>
            <a:endParaRPr lang="en-IN"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A8A37B05-466E-A4B2-4F91-192FD3FE041B}"/>
              </a:ext>
            </a:extLst>
          </p:cNvPr>
          <p:cNvGraphicFramePr>
            <a:graphicFrameLocks noGrp="1"/>
          </p:cNvGraphicFramePr>
          <p:nvPr>
            <p:extLst>
              <p:ext uri="{D42A27DB-BD31-4B8C-83A1-F6EECF244321}">
                <p14:modId xmlns:p14="http://schemas.microsoft.com/office/powerpoint/2010/main" val="2299013481"/>
              </p:ext>
            </p:extLst>
          </p:nvPr>
        </p:nvGraphicFramePr>
        <p:xfrm>
          <a:off x="381799" y="2160014"/>
          <a:ext cx="11428398" cy="3896515"/>
        </p:xfrm>
        <a:graphic>
          <a:graphicData uri="http://schemas.openxmlformats.org/drawingml/2006/table">
            <a:tbl>
              <a:tblPr firstRow="1"/>
              <a:tblGrid>
                <a:gridCol w="2396311">
                  <a:extLst>
                    <a:ext uri="{9D8B030D-6E8A-4147-A177-3AD203B41FA5}">
                      <a16:colId xmlns:a16="http://schemas.microsoft.com/office/drawing/2014/main" val="2494470979"/>
                    </a:ext>
                  </a:extLst>
                </a:gridCol>
                <a:gridCol w="2396311">
                  <a:extLst>
                    <a:ext uri="{9D8B030D-6E8A-4147-A177-3AD203B41FA5}">
                      <a16:colId xmlns:a16="http://schemas.microsoft.com/office/drawing/2014/main" val="1236535896"/>
                    </a:ext>
                  </a:extLst>
                </a:gridCol>
                <a:gridCol w="6635776">
                  <a:extLst>
                    <a:ext uri="{9D8B030D-6E8A-4147-A177-3AD203B41FA5}">
                      <a16:colId xmlns:a16="http://schemas.microsoft.com/office/drawing/2014/main" val="4185013604"/>
                    </a:ext>
                  </a:extLst>
                </a:gridCol>
              </a:tblGrid>
              <a:tr h="454559">
                <a:tc>
                  <a:txBody>
                    <a:bodyPr/>
                    <a:lstStyle/>
                    <a:p>
                      <a:pPr algn="ctr"/>
                      <a:r>
                        <a:rPr lang="en-IN" sz="1600" b="1" dirty="0">
                          <a:solidFill>
                            <a:schemeClr val="bg1"/>
                          </a:solidFill>
                          <a:latin typeface="Calibri" panose="020F0502020204030204" pitchFamily="34" charset="0"/>
                          <a:cs typeface="Calibri" panose="020F050202020403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GB" sz="1600" b="1" dirty="0">
                          <a:solidFill>
                            <a:schemeClr val="bg1"/>
                          </a:solidFill>
                          <a:latin typeface="Calibri" panose="020F0502020204030204" pitchFamily="34" charset="0"/>
                          <a:cs typeface="Calibri" panose="020F0502020204030204" pitchFamily="34" charset="0"/>
                        </a:rPr>
                        <a:t>Date Type</a:t>
                      </a:r>
                      <a:endParaRPr lang="en-IN" sz="1600" b="1" dirty="0">
                        <a:solidFill>
                          <a:schemeClr val="bg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IN" sz="1600" b="1" dirty="0">
                          <a:solidFill>
                            <a:schemeClr val="bg1"/>
                          </a:solidFill>
                          <a:latin typeface="Calibri" panose="020F0502020204030204" pitchFamily="34" charset="0"/>
                          <a:cs typeface="Calibri" panose="020F050202020403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extLst>
                  <a:ext uri="{0D108BD9-81ED-4DB2-BD59-A6C34878D82A}">
                    <a16:rowId xmlns:a16="http://schemas.microsoft.com/office/drawing/2014/main" val="2803618950"/>
                  </a:ext>
                </a:extLst>
              </a:tr>
              <a:tr h="454559">
                <a:tc>
                  <a:txBody>
                    <a:bodyPr/>
                    <a:lstStyle/>
                    <a:p>
                      <a:pPr algn="ctr"/>
                      <a:r>
                        <a:rPr lang="en-IN" sz="1600" b="0" dirty="0" err="1">
                          <a:latin typeface="Calibri" panose="020F0502020204030204" pitchFamily="34" charset="0"/>
                          <a:cs typeface="Calibri" panose="020F0502020204030204" pitchFamily="34" charset="0"/>
                        </a:rPr>
                        <a:t>product_id</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Unique identifier for each product in the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897477987"/>
                  </a:ext>
                </a:extLst>
              </a:tr>
              <a:tr h="454559">
                <a:tc>
                  <a:txBody>
                    <a:bodyPr/>
                    <a:lstStyle/>
                    <a:p>
                      <a:pPr algn="ctr"/>
                      <a:r>
                        <a:rPr lang="en-IN" sz="1600" b="0" dirty="0" err="1">
                          <a:latin typeface="Calibri" panose="020F0502020204030204" pitchFamily="34" charset="0"/>
                          <a:cs typeface="Calibri" panose="020F0502020204030204" pitchFamily="34" charset="0"/>
                        </a:rPr>
                        <a:t>product_name</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Name of the chocolate product sold.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48665092"/>
                  </a:ext>
                </a:extLst>
              </a:tr>
              <a:tr h="454559">
                <a:tc>
                  <a:txBody>
                    <a:bodyPr/>
                    <a:lstStyle/>
                    <a:p>
                      <a:pPr algn="ctr"/>
                      <a:r>
                        <a:rPr lang="en-IN" sz="1600" b="0" dirty="0">
                          <a:latin typeface="Calibri" panose="020F0502020204030204" pitchFamily="34" charset="0"/>
                          <a:cs typeface="Calibri" panose="020F0502020204030204" pitchFamily="34" charset="0"/>
                        </a:rPr>
                        <a:t>brand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The brand or manufacturer associated with the 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2780673847"/>
                  </a:ext>
                </a:extLst>
              </a:tr>
              <a:tr h="454559">
                <a:tc>
                  <a:txBody>
                    <a:bodyPr/>
                    <a:lstStyle/>
                    <a:p>
                      <a:pPr algn="ctr"/>
                      <a:r>
                        <a:rPr lang="en-IN" sz="1600" b="0" dirty="0">
                          <a:latin typeface="Calibri" panose="020F0502020204030204" pitchFamily="34" charset="0"/>
                          <a:cs typeface="Calibri" panose="020F0502020204030204" pitchFamily="34" charset="0"/>
                        </a:rPr>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Classification of the product (e.g., dark chocolate, milk chocolate, premium).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4190470371"/>
                  </a:ext>
                </a:extLst>
              </a:tr>
              <a:tr h="795478">
                <a:tc>
                  <a:txBody>
                    <a:bodyPr/>
                    <a:lstStyle/>
                    <a:p>
                      <a:pPr algn="ctr"/>
                      <a:r>
                        <a:rPr lang="en-IN" sz="1600" b="0" dirty="0" err="1">
                          <a:latin typeface="Calibri" panose="020F0502020204030204" pitchFamily="34" charset="0"/>
                          <a:cs typeface="Calibri" panose="020F0502020204030204" pitchFamily="34" charset="0"/>
                        </a:rPr>
                        <a:t>cocoa_percent</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Percentage of cocoa content in the chocolate, useful for quality and taste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775841566"/>
                  </a:ext>
                </a:extLst>
              </a:tr>
              <a:tr h="454559">
                <a:tc>
                  <a:txBody>
                    <a:bodyPr/>
                    <a:lstStyle/>
                    <a:p>
                      <a:pPr algn="ctr"/>
                      <a:r>
                        <a:rPr lang="en-IN" sz="1600" b="0" dirty="0" err="1">
                          <a:latin typeface="Calibri" panose="020F0502020204030204" pitchFamily="34" charset="0"/>
                          <a:cs typeface="Calibri" panose="020F0502020204030204" pitchFamily="34" charset="0"/>
                        </a:rPr>
                        <a:t>weight_g</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Net weight of the product in grams.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2834870756"/>
                  </a:ext>
                </a:extLst>
              </a:tr>
            </a:tbl>
          </a:graphicData>
        </a:graphic>
      </p:graphicFrame>
    </p:spTree>
    <p:extLst>
      <p:ext uri="{BB962C8B-B14F-4D97-AF65-F5344CB8AC3E}">
        <p14:creationId xmlns:p14="http://schemas.microsoft.com/office/powerpoint/2010/main" val="4078889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 Structure – Customers Table</a:t>
            </a:r>
          </a:p>
        </p:txBody>
      </p:sp>
      <p:sp>
        <p:nvSpPr>
          <p:cNvPr id="4" name="TextBox 3">
            <a:extLst>
              <a:ext uri="{FF2B5EF4-FFF2-40B4-BE49-F238E27FC236}">
                <a16:creationId xmlns:a16="http://schemas.microsoft.com/office/drawing/2014/main" id="{F2F3CA05-2937-AB51-BCD7-ADDCA71C9C67}"/>
              </a:ext>
            </a:extLst>
          </p:cNvPr>
          <p:cNvSpPr txBox="1"/>
          <p:nvPr/>
        </p:nvSpPr>
        <p:spPr>
          <a:xfrm>
            <a:off x="381799" y="1112258"/>
            <a:ext cx="11428399" cy="646331"/>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Customers table stores customer demographic and loyalty-related information such as age, gender, loyalty membership, and registration date. It is used to analyse customer behaviour, segmentation, and purchasing patterns.</a:t>
            </a:r>
            <a:endParaRPr lang="en-IN"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5FEA8BE0-E019-2EB0-D026-F96DDBD1C09E}"/>
              </a:ext>
            </a:extLst>
          </p:cNvPr>
          <p:cNvGraphicFramePr>
            <a:graphicFrameLocks noGrp="1"/>
          </p:cNvGraphicFramePr>
          <p:nvPr>
            <p:extLst>
              <p:ext uri="{D42A27DB-BD31-4B8C-83A1-F6EECF244321}">
                <p14:modId xmlns:p14="http://schemas.microsoft.com/office/powerpoint/2010/main" val="4188065820"/>
              </p:ext>
            </p:extLst>
          </p:nvPr>
        </p:nvGraphicFramePr>
        <p:xfrm>
          <a:off x="381799" y="2030189"/>
          <a:ext cx="11428398" cy="3833350"/>
        </p:xfrm>
        <a:graphic>
          <a:graphicData uri="http://schemas.openxmlformats.org/drawingml/2006/table">
            <a:tbl>
              <a:tblPr>
                <a:effectLst/>
              </a:tblPr>
              <a:tblGrid>
                <a:gridCol w="3809466">
                  <a:extLst>
                    <a:ext uri="{9D8B030D-6E8A-4147-A177-3AD203B41FA5}">
                      <a16:colId xmlns:a16="http://schemas.microsoft.com/office/drawing/2014/main" val="1998042771"/>
                    </a:ext>
                  </a:extLst>
                </a:gridCol>
                <a:gridCol w="3809466">
                  <a:extLst>
                    <a:ext uri="{9D8B030D-6E8A-4147-A177-3AD203B41FA5}">
                      <a16:colId xmlns:a16="http://schemas.microsoft.com/office/drawing/2014/main" val="1721220684"/>
                    </a:ext>
                  </a:extLst>
                </a:gridCol>
                <a:gridCol w="3809466">
                  <a:extLst>
                    <a:ext uri="{9D8B030D-6E8A-4147-A177-3AD203B41FA5}">
                      <a16:colId xmlns:a16="http://schemas.microsoft.com/office/drawing/2014/main" val="554847890"/>
                    </a:ext>
                  </a:extLst>
                </a:gridCol>
              </a:tblGrid>
              <a:tr h="462920">
                <a:tc>
                  <a:txBody>
                    <a:bodyPr/>
                    <a:lstStyle/>
                    <a:p>
                      <a:pPr algn="ctr"/>
                      <a:r>
                        <a:rPr lang="en-IN" sz="1600" dirty="0">
                          <a:solidFill>
                            <a:schemeClr val="bg1"/>
                          </a:solidFill>
                          <a:latin typeface="Calibri" panose="020F0502020204030204" pitchFamily="34" charset="0"/>
                          <a:cs typeface="Calibri" panose="020F050202020403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GB" sz="1600" dirty="0">
                          <a:solidFill>
                            <a:schemeClr val="bg1"/>
                          </a:solidFill>
                          <a:latin typeface="Calibri" panose="020F0502020204030204" pitchFamily="34" charset="0"/>
                          <a:cs typeface="Calibri" panose="020F0502020204030204" pitchFamily="34" charset="0"/>
                        </a:rPr>
                        <a:t>Data Type</a:t>
                      </a:r>
                      <a:endParaRPr lang="en-IN" sz="1600" dirty="0">
                        <a:solidFill>
                          <a:schemeClr val="bg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IN" sz="1600" dirty="0">
                          <a:solidFill>
                            <a:schemeClr val="bg1"/>
                          </a:solidFill>
                          <a:latin typeface="Calibri" panose="020F0502020204030204" pitchFamily="34" charset="0"/>
                          <a:cs typeface="Calibri" panose="020F050202020403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extLst>
                  <a:ext uri="{0D108BD9-81ED-4DB2-BD59-A6C34878D82A}">
                    <a16:rowId xmlns:a16="http://schemas.microsoft.com/office/drawing/2014/main" val="574323022"/>
                  </a:ext>
                </a:extLst>
              </a:tr>
              <a:tr h="462920">
                <a:tc>
                  <a:txBody>
                    <a:bodyPr/>
                    <a:lstStyle/>
                    <a:p>
                      <a:pPr algn="ctr"/>
                      <a:r>
                        <a:rPr lang="en-IN" sz="1600" b="0" dirty="0" err="1">
                          <a:latin typeface="Calibri" panose="020F0502020204030204" pitchFamily="34" charset="0"/>
                          <a:cs typeface="Calibri" panose="020F0502020204030204" pitchFamily="34" charset="0"/>
                        </a:rPr>
                        <a:t>customer_id</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Unique identifier for each customer in the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1563191216"/>
                  </a:ext>
                </a:extLst>
              </a:tr>
              <a:tr h="462920">
                <a:tc>
                  <a:txBody>
                    <a:bodyPr/>
                    <a:lstStyle/>
                    <a:p>
                      <a:pPr algn="ctr"/>
                      <a:r>
                        <a:rPr lang="en-IN" sz="1600" b="0" dirty="0">
                          <a:latin typeface="Calibri" panose="020F0502020204030204" pitchFamily="34" charset="0"/>
                          <a:cs typeface="Calibri" panose="020F0502020204030204" pitchFamily="34"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Age of the customer, useful for demographic analysis.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3139347105"/>
                  </a:ext>
                </a:extLst>
              </a:tr>
              <a:tr h="462920">
                <a:tc>
                  <a:txBody>
                    <a:bodyPr/>
                    <a:lstStyle/>
                    <a:p>
                      <a:pPr algn="ctr"/>
                      <a:r>
                        <a:rPr lang="en-IN" sz="1600" b="0" dirty="0">
                          <a:latin typeface="Calibri" panose="020F0502020204030204" pitchFamily="34" charset="0"/>
                          <a:cs typeface="Calibri" panose="020F0502020204030204" pitchFamily="34" charset="0"/>
                        </a:rPr>
                        <a:t>gender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Gender of the customer (e.g., Male, Female, Other).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837704510"/>
                  </a:ext>
                </a:extLst>
              </a:tr>
              <a:tr h="810110">
                <a:tc>
                  <a:txBody>
                    <a:bodyPr/>
                    <a:lstStyle/>
                    <a:p>
                      <a:pPr algn="ctr"/>
                      <a:r>
                        <a:rPr lang="en-IN" sz="1600" b="0" dirty="0" err="1">
                          <a:latin typeface="Calibri" panose="020F0502020204030204" pitchFamily="34" charset="0"/>
                          <a:cs typeface="Calibri" panose="020F0502020204030204" pitchFamily="34" charset="0"/>
                        </a:rPr>
                        <a:t>loyalty_member</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Indicates whether the customer is part of a loyalty program.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2262637278"/>
                  </a:ext>
                </a:extLst>
              </a:tr>
              <a:tr h="810110">
                <a:tc>
                  <a:txBody>
                    <a:bodyPr/>
                    <a:lstStyle/>
                    <a:p>
                      <a:pPr algn="ctr"/>
                      <a:r>
                        <a:rPr lang="en-IN" sz="1600" b="0" dirty="0" err="1">
                          <a:latin typeface="Calibri" panose="020F0502020204030204" pitchFamily="34" charset="0"/>
                          <a:cs typeface="Calibri" panose="020F0502020204030204" pitchFamily="34" charset="0"/>
                        </a:rPr>
                        <a:t>join_date</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Date</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The date when the customer joined the loyalty program or registered with the store.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3987608131"/>
                  </a:ext>
                </a:extLst>
              </a:tr>
            </a:tbl>
          </a:graphicData>
        </a:graphic>
      </p:graphicFrame>
    </p:spTree>
    <p:extLst>
      <p:ext uri="{BB962C8B-B14F-4D97-AF65-F5344CB8AC3E}">
        <p14:creationId xmlns:p14="http://schemas.microsoft.com/office/powerpoint/2010/main" val="4143402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 Structure – Stores Table</a:t>
            </a:r>
          </a:p>
        </p:txBody>
      </p:sp>
      <p:sp>
        <p:nvSpPr>
          <p:cNvPr id="4" name="TextBox 3">
            <a:extLst>
              <a:ext uri="{FF2B5EF4-FFF2-40B4-BE49-F238E27FC236}">
                <a16:creationId xmlns:a16="http://schemas.microsoft.com/office/drawing/2014/main" id="{8EFC3783-2811-F8E8-3EA5-39E0B6760A4E}"/>
              </a:ext>
            </a:extLst>
          </p:cNvPr>
          <p:cNvSpPr txBox="1"/>
          <p:nvPr/>
        </p:nvSpPr>
        <p:spPr>
          <a:xfrm>
            <a:off x="381799" y="1097510"/>
            <a:ext cx="11428399" cy="646331"/>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Stores table contains information about store locations and store types, including city, country, and operational category. This table supports analysis of store performance, regional sales trends, and profitability comparisons.</a:t>
            </a:r>
            <a:endParaRPr lang="en-IN"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075CD2F7-5196-C9D5-D655-744FD72436E9}"/>
              </a:ext>
            </a:extLst>
          </p:cNvPr>
          <p:cNvGraphicFramePr>
            <a:graphicFrameLocks noGrp="1"/>
          </p:cNvGraphicFramePr>
          <p:nvPr>
            <p:extLst>
              <p:ext uri="{D42A27DB-BD31-4B8C-83A1-F6EECF244321}">
                <p14:modId xmlns:p14="http://schemas.microsoft.com/office/powerpoint/2010/main" val="2996706855"/>
              </p:ext>
            </p:extLst>
          </p:nvPr>
        </p:nvGraphicFramePr>
        <p:xfrm>
          <a:off x="381798" y="2124278"/>
          <a:ext cx="11428398" cy="3523794"/>
        </p:xfrm>
        <a:graphic>
          <a:graphicData uri="http://schemas.openxmlformats.org/drawingml/2006/table">
            <a:tbl>
              <a:tblPr firstRow="1"/>
              <a:tblGrid>
                <a:gridCol w="3823023">
                  <a:extLst>
                    <a:ext uri="{9D8B030D-6E8A-4147-A177-3AD203B41FA5}">
                      <a16:colId xmlns:a16="http://schemas.microsoft.com/office/drawing/2014/main" val="3755866652"/>
                    </a:ext>
                  </a:extLst>
                </a:gridCol>
                <a:gridCol w="3823023">
                  <a:extLst>
                    <a:ext uri="{9D8B030D-6E8A-4147-A177-3AD203B41FA5}">
                      <a16:colId xmlns:a16="http://schemas.microsoft.com/office/drawing/2014/main" val="706086905"/>
                    </a:ext>
                  </a:extLst>
                </a:gridCol>
                <a:gridCol w="3782352">
                  <a:extLst>
                    <a:ext uri="{9D8B030D-6E8A-4147-A177-3AD203B41FA5}">
                      <a16:colId xmlns:a16="http://schemas.microsoft.com/office/drawing/2014/main" val="1849214120"/>
                    </a:ext>
                  </a:extLst>
                </a:gridCol>
              </a:tblGrid>
              <a:tr h="439023">
                <a:tc>
                  <a:txBody>
                    <a:bodyPr/>
                    <a:lstStyle/>
                    <a:p>
                      <a:pPr algn="ctr"/>
                      <a:r>
                        <a:rPr lang="en-IN" sz="1600" dirty="0">
                          <a:solidFill>
                            <a:schemeClr val="bg1"/>
                          </a:solidFill>
                          <a:latin typeface="Calibri" panose="020F0502020204030204" pitchFamily="34" charset="0"/>
                          <a:cs typeface="Calibri" panose="020F0502020204030204" pitchFamily="34" charset="0"/>
                        </a:rPr>
                        <a:t>Column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GB" sz="1600" dirty="0">
                          <a:solidFill>
                            <a:schemeClr val="bg1"/>
                          </a:solidFill>
                          <a:latin typeface="Calibri" panose="020F0502020204030204" pitchFamily="34" charset="0"/>
                          <a:cs typeface="Calibri" panose="020F0502020204030204" pitchFamily="34" charset="0"/>
                        </a:rPr>
                        <a:t>Date Type</a:t>
                      </a:r>
                      <a:endParaRPr lang="en-IN" sz="1600" dirty="0">
                        <a:solidFill>
                          <a:schemeClr val="bg1"/>
                        </a:solidFill>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IN" sz="1600" dirty="0">
                          <a:solidFill>
                            <a:schemeClr val="bg1"/>
                          </a:solidFill>
                          <a:latin typeface="Calibri" panose="020F0502020204030204" pitchFamily="34" charset="0"/>
                          <a:cs typeface="Calibri" panose="020F0502020204030204" pitchFamily="34" charset="0"/>
                        </a:rPr>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extLst>
                  <a:ext uri="{0D108BD9-81ED-4DB2-BD59-A6C34878D82A}">
                    <a16:rowId xmlns:a16="http://schemas.microsoft.com/office/drawing/2014/main" val="60631420"/>
                  </a:ext>
                </a:extLst>
              </a:tr>
              <a:tr h="439023">
                <a:tc>
                  <a:txBody>
                    <a:bodyPr/>
                    <a:lstStyle/>
                    <a:p>
                      <a:pPr algn="ctr"/>
                      <a:r>
                        <a:rPr lang="en-IN" sz="1600" b="0" dirty="0" err="1">
                          <a:latin typeface="Calibri" panose="020F0502020204030204" pitchFamily="34" charset="0"/>
                          <a:cs typeface="Calibri" panose="020F0502020204030204" pitchFamily="34" charset="0"/>
                        </a:rPr>
                        <a:t>store_id</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Unique identifier for each store in the 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2076210256"/>
                  </a:ext>
                </a:extLst>
              </a:tr>
              <a:tr h="439023">
                <a:tc>
                  <a:txBody>
                    <a:bodyPr/>
                    <a:lstStyle/>
                    <a:p>
                      <a:pPr algn="ctr"/>
                      <a:r>
                        <a:rPr lang="en-IN" sz="1600" b="0" dirty="0" err="1">
                          <a:latin typeface="Calibri" panose="020F0502020204030204" pitchFamily="34" charset="0"/>
                          <a:cs typeface="Calibri" panose="020F0502020204030204" pitchFamily="34" charset="0"/>
                        </a:rPr>
                        <a:t>store_name</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The name of the store where transactions occur.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3627794444"/>
                  </a:ext>
                </a:extLst>
              </a:tr>
              <a:tr h="439023">
                <a:tc>
                  <a:txBody>
                    <a:bodyPr/>
                    <a:lstStyle/>
                    <a:p>
                      <a:pPr algn="ctr"/>
                      <a:r>
                        <a:rPr lang="en-IN" sz="1600" b="0" dirty="0">
                          <a:latin typeface="Calibri" panose="020F0502020204030204" pitchFamily="34" charset="0"/>
                          <a:cs typeface="Calibri" panose="020F0502020204030204" pitchFamily="34" charset="0"/>
                        </a:rPr>
                        <a:t>city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The city in which the store is located.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2806831077"/>
                  </a:ext>
                </a:extLst>
              </a:tr>
              <a:tr h="439023">
                <a:tc>
                  <a:txBody>
                    <a:bodyPr/>
                    <a:lstStyle/>
                    <a:p>
                      <a:pPr algn="ctr"/>
                      <a:r>
                        <a:rPr lang="en-IN" sz="1600" b="0" dirty="0">
                          <a:latin typeface="Calibri" panose="020F0502020204030204" pitchFamily="34" charset="0"/>
                          <a:cs typeface="Calibri" panose="020F0502020204030204" pitchFamily="34" charset="0"/>
                        </a:rPr>
                        <a:t>country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dirty="0">
                          <a:latin typeface="Calibri" panose="020F0502020204030204" pitchFamily="34" charset="0"/>
                          <a:cs typeface="Calibri" panose="020F0502020204030204" pitchFamily="34" charset="0"/>
                        </a:rPr>
                        <a:t>The country where the store operates.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1054931985"/>
                  </a:ext>
                </a:extLst>
              </a:tr>
              <a:tr h="768291">
                <a:tc>
                  <a:txBody>
                    <a:bodyPr/>
                    <a:lstStyle/>
                    <a:p>
                      <a:pPr algn="ctr"/>
                      <a:r>
                        <a:rPr lang="en-IN" sz="1600" b="0" dirty="0" err="1">
                          <a:latin typeface="Calibri" panose="020F0502020204030204" pitchFamily="34" charset="0"/>
                          <a:cs typeface="Calibri" panose="020F0502020204030204" pitchFamily="34" charset="0"/>
                        </a:rPr>
                        <a:t>store_type</a:t>
                      </a: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sz="1600" b="0" dirty="0">
                          <a:latin typeface="Calibri" panose="020F0502020204030204" pitchFamily="34" charset="0"/>
                          <a:cs typeface="Calibri" panose="020F0502020204030204" pitchFamily="34" charset="0"/>
                        </a:rPr>
                        <a:t>Varchar</a:t>
                      </a:r>
                      <a:endParaRPr lang="en-IN" sz="1600" b="0" dirty="0">
                        <a:latin typeface="Calibri" panose="020F0502020204030204" pitchFamily="34" charset="0"/>
                        <a:cs typeface="Calibri" panose="020F0502020204030204" pitchFamily="34" charset="0"/>
                      </a:endParaRPr>
                    </a:p>
                    <a:p>
                      <a:pPr algn="ctr"/>
                      <a:endParaRPr lang="en-IN" sz="1600" b="0" dirty="0">
                        <a:latin typeface="Calibri" panose="020F0502020204030204" pitchFamily="34" charset="0"/>
                        <a:cs typeface="Calibri" panose="020F050202020403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dirty="0">
                          <a:latin typeface="Calibri" panose="020F0502020204030204" pitchFamily="34" charset="0"/>
                          <a:cs typeface="Calibri" panose="020F0502020204030204" pitchFamily="34" charset="0"/>
                        </a:rPr>
                        <a:t>Classification of the store (e.g., supermarket, boutique, online).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2482154713"/>
                  </a:ext>
                </a:extLst>
              </a:tr>
            </a:tbl>
          </a:graphicData>
        </a:graphic>
      </p:graphicFrame>
    </p:spTree>
    <p:extLst>
      <p:ext uri="{BB962C8B-B14F-4D97-AF65-F5344CB8AC3E}">
        <p14:creationId xmlns:p14="http://schemas.microsoft.com/office/powerpoint/2010/main" val="2701121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 Structure – Calendar Table</a:t>
            </a:r>
          </a:p>
        </p:txBody>
      </p:sp>
      <p:sp>
        <p:nvSpPr>
          <p:cNvPr id="4" name="TextBox 3">
            <a:extLst>
              <a:ext uri="{FF2B5EF4-FFF2-40B4-BE49-F238E27FC236}">
                <a16:creationId xmlns:a16="http://schemas.microsoft.com/office/drawing/2014/main" id="{338F7474-495B-1829-7843-40FDECDC1BD5}"/>
              </a:ext>
            </a:extLst>
          </p:cNvPr>
          <p:cNvSpPr txBox="1"/>
          <p:nvPr/>
        </p:nvSpPr>
        <p:spPr>
          <a:xfrm>
            <a:off x="381799" y="1132771"/>
            <a:ext cx="11428399" cy="646331"/>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Calendar table provides date-related attributes such as year, month, week, and day information. It enables time-based analysis, seasonal trend identification, monthly comparisons, and forecasting activities.</a:t>
            </a:r>
            <a:endParaRPr lang="en-IN"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001B6E84-FE66-0F73-D305-B864C710AD5E}"/>
              </a:ext>
            </a:extLst>
          </p:cNvPr>
          <p:cNvGraphicFramePr>
            <a:graphicFrameLocks noGrp="1"/>
          </p:cNvGraphicFramePr>
          <p:nvPr>
            <p:extLst>
              <p:ext uri="{D42A27DB-BD31-4B8C-83A1-F6EECF244321}">
                <p14:modId xmlns:p14="http://schemas.microsoft.com/office/powerpoint/2010/main" val="2660483812"/>
              </p:ext>
            </p:extLst>
          </p:nvPr>
        </p:nvGraphicFramePr>
        <p:xfrm>
          <a:off x="381799" y="2019442"/>
          <a:ext cx="11428398" cy="3657598"/>
        </p:xfrm>
        <a:graphic>
          <a:graphicData uri="http://schemas.openxmlformats.org/drawingml/2006/table">
            <a:tbl>
              <a:tblPr firstRow="1"/>
              <a:tblGrid>
                <a:gridCol w="2313007">
                  <a:extLst>
                    <a:ext uri="{9D8B030D-6E8A-4147-A177-3AD203B41FA5}">
                      <a16:colId xmlns:a16="http://schemas.microsoft.com/office/drawing/2014/main" val="1307303660"/>
                    </a:ext>
                  </a:extLst>
                </a:gridCol>
                <a:gridCol w="2313007">
                  <a:extLst>
                    <a:ext uri="{9D8B030D-6E8A-4147-A177-3AD203B41FA5}">
                      <a16:colId xmlns:a16="http://schemas.microsoft.com/office/drawing/2014/main" val="1250702"/>
                    </a:ext>
                  </a:extLst>
                </a:gridCol>
                <a:gridCol w="6802384">
                  <a:extLst>
                    <a:ext uri="{9D8B030D-6E8A-4147-A177-3AD203B41FA5}">
                      <a16:colId xmlns:a16="http://schemas.microsoft.com/office/drawing/2014/main" val="2891119616"/>
                    </a:ext>
                  </a:extLst>
                </a:gridCol>
              </a:tblGrid>
              <a:tr h="522514">
                <a:tc>
                  <a:txBody>
                    <a:bodyPr/>
                    <a:lstStyle/>
                    <a:p>
                      <a:pPr algn="ctr"/>
                      <a:r>
                        <a:rPr lang="en-IN" sz="1600" b="1" dirty="0">
                          <a:solidFill>
                            <a:schemeClr val="bg1"/>
                          </a:solidFill>
                          <a:latin typeface="Calibri" panose="020F0502020204030204" pitchFamily="34" charset="0"/>
                          <a:cs typeface="Calibri" panose="020F0502020204030204" pitchFamily="34" charset="0"/>
                        </a:rPr>
                        <a:t>Column Name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GB" sz="1600" b="1" dirty="0">
                          <a:solidFill>
                            <a:schemeClr val="bg1"/>
                          </a:solidFill>
                          <a:latin typeface="Calibri" panose="020F0502020204030204" pitchFamily="34" charset="0"/>
                          <a:cs typeface="Calibri" panose="020F0502020204030204" pitchFamily="34" charset="0"/>
                        </a:rPr>
                        <a:t>Data Type</a:t>
                      </a:r>
                      <a:endParaRPr lang="en-IN" sz="1600" b="1" dirty="0">
                        <a:solidFill>
                          <a:schemeClr val="bg1"/>
                        </a:solidFill>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tc>
                  <a:txBody>
                    <a:bodyPr/>
                    <a:lstStyle/>
                    <a:p>
                      <a:pPr algn="ctr"/>
                      <a:r>
                        <a:rPr lang="en-IN" sz="1600" b="1" dirty="0">
                          <a:solidFill>
                            <a:schemeClr val="bg1"/>
                          </a:solidFill>
                          <a:latin typeface="Calibri" panose="020F0502020204030204" pitchFamily="34" charset="0"/>
                          <a:cs typeface="Calibri" panose="020F0502020204030204" pitchFamily="34" charset="0"/>
                        </a:rPr>
                        <a:t>Description</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F81BD"/>
                    </a:solidFill>
                  </a:tcPr>
                </a:tc>
                <a:extLst>
                  <a:ext uri="{0D108BD9-81ED-4DB2-BD59-A6C34878D82A}">
                    <a16:rowId xmlns:a16="http://schemas.microsoft.com/office/drawing/2014/main" val="3610194406"/>
                  </a:ext>
                </a:extLst>
              </a:tr>
              <a:tr h="522514">
                <a:tc>
                  <a:txBody>
                    <a:bodyPr/>
                    <a:lstStyle/>
                    <a:p>
                      <a:pPr algn="ctr"/>
                      <a:r>
                        <a:rPr lang="en-IN" sz="1600" b="0" dirty="0">
                          <a:latin typeface="Calibri" panose="020F0502020204030204" pitchFamily="34" charset="0"/>
                          <a:cs typeface="Calibri" panose="020F0502020204030204" pitchFamily="34" charset="0"/>
                        </a:rPr>
                        <a:t>date</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Date</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fontAlgn="b"/>
                      <a:r>
                        <a:rPr lang="en-GB" sz="1600" b="0" i="0" u="none" strike="noStrike" dirty="0">
                          <a:solidFill>
                            <a:srgbClr val="000000"/>
                          </a:solidFill>
                          <a:effectLst/>
                          <a:latin typeface="Calibri" panose="020F0502020204030204" pitchFamily="34" charset="0"/>
                          <a:cs typeface="Calibri" panose="020F0502020204030204" pitchFamily="34" charset="0"/>
                        </a:rPr>
                        <a:t>The unique calendar date, serving as the primary key for linking with sales transactions.</a:t>
                      </a:r>
                    </a:p>
                  </a:txBody>
                  <a:tcPr marL="9525" marR="9525" marT="9525" marB="95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3108553302"/>
                  </a:ext>
                </a:extLst>
              </a:tr>
              <a:tr h="522514">
                <a:tc>
                  <a:txBody>
                    <a:bodyPr/>
                    <a:lstStyle/>
                    <a:p>
                      <a:pPr algn="ctr"/>
                      <a:r>
                        <a:rPr lang="en-IN" sz="1600" b="0" dirty="0">
                          <a:latin typeface="Calibri" panose="020F0502020204030204" pitchFamily="34" charset="0"/>
                          <a:cs typeface="Calibri" panose="020F0502020204030204" pitchFamily="34" charset="0"/>
                        </a:rPr>
                        <a:t>year</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fontAlgn="b"/>
                      <a:r>
                        <a:rPr lang="en-GB" sz="1600" b="0" i="0" u="none" strike="noStrike" dirty="0">
                          <a:solidFill>
                            <a:srgbClr val="000000"/>
                          </a:solidFill>
                          <a:effectLst/>
                          <a:latin typeface="Calibri" panose="020F0502020204030204" pitchFamily="34" charset="0"/>
                          <a:cs typeface="Calibri" panose="020F0502020204030204" pitchFamily="34" charset="0"/>
                        </a:rPr>
                        <a:t>The year component of the date, useful for annual comparisons and aggregations.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3943454958"/>
                  </a:ext>
                </a:extLst>
              </a:tr>
              <a:tr h="522514">
                <a:tc>
                  <a:txBody>
                    <a:bodyPr/>
                    <a:lstStyle/>
                    <a:p>
                      <a:pPr algn="ctr"/>
                      <a:r>
                        <a:rPr lang="en-IN" sz="1600" b="0" dirty="0">
                          <a:latin typeface="Calibri" panose="020F0502020204030204" pitchFamily="34" charset="0"/>
                          <a:cs typeface="Calibri" panose="020F0502020204030204" pitchFamily="34" charset="0"/>
                        </a:rPr>
                        <a:t>month</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fontAlgn="b"/>
                      <a:r>
                        <a:rPr lang="en-GB" sz="1600" b="0" i="0" u="none" strike="noStrike" dirty="0">
                          <a:solidFill>
                            <a:srgbClr val="000000"/>
                          </a:solidFill>
                          <a:effectLst/>
                          <a:latin typeface="Calibri" panose="020F0502020204030204" pitchFamily="34" charset="0"/>
                          <a:cs typeface="Calibri" panose="020F0502020204030204" pitchFamily="34" charset="0"/>
                        </a:rPr>
                        <a:t>The month number or name, enabling monthly trend analysis.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1926962433"/>
                  </a:ext>
                </a:extLst>
              </a:tr>
              <a:tr h="522514">
                <a:tc>
                  <a:txBody>
                    <a:bodyPr/>
                    <a:lstStyle/>
                    <a:p>
                      <a:pPr algn="ctr"/>
                      <a:r>
                        <a:rPr lang="en-IN" sz="1600" b="0" dirty="0">
                          <a:latin typeface="Calibri" panose="020F0502020204030204" pitchFamily="34" charset="0"/>
                          <a:cs typeface="Calibri" panose="020F0502020204030204" pitchFamily="34" charset="0"/>
                        </a:rPr>
                        <a:t>day</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fontAlgn="b"/>
                      <a:r>
                        <a:rPr lang="en-GB" sz="1600" b="0" i="0" u="none" strike="noStrike" dirty="0">
                          <a:solidFill>
                            <a:srgbClr val="000000"/>
                          </a:solidFill>
                          <a:effectLst/>
                          <a:latin typeface="Calibri" panose="020F0502020204030204" pitchFamily="34" charset="0"/>
                          <a:cs typeface="Calibri" panose="020F0502020204030204" pitchFamily="34" charset="0"/>
                        </a:rPr>
                        <a:t>The day of the month, supporting daily-level reporting.</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214807822"/>
                  </a:ext>
                </a:extLst>
              </a:tr>
              <a:tr h="522514">
                <a:tc>
                  <a:txBody>
                    <a:bodyPr/>
                    <a:lstStyle/>
                    <a:p>
                      <a:pPr algn="ctr"/>
                      <a:r>
                        <a:rPr lang="en-IN" sz="1600" b="0" dirty="0">
                          <a:latin typeface="Calibri" panose="020F0502020204030204" pitchFamily="34" charset="0"/>
                          <a:cs typeface="Calibri" panose="020F0502020204030204" pitchFamily="34" charset="0"/>
                        </a:rPr>
                        <a:t>week</a:t>
                      </a: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tc>
                  <a:txBody>
                    <a:bodyPr/>
                    <a:lstStyle/>
                    <a:p>
                      <a:pPr algn="ctr" fontAlgn="b"/>
                      <a:r>
                        <a:rPr lang="en-GB" sz="1600" b="0" i="0" u="none" strike="noStrike" dirty="0">
                          <a:solidFill>
                            <a:srgbClr val="000000"/>
                          </a:solidFill>
                          <a:effectLst/>
                          <a:latin typeface="Calibri" panose="020F0502020204030204" pitchFamily="34" charset="0"/>
                          <a:cs typeface="Calibri" panose="020F0502020204030204" pitchFamily="34" charset="0"/>
                        </a:rPr>
                        <a:t>The week number, useful for weekly summaries and comparisons.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8E8"/>
                    </a:solidFill>
                  </a:tcPr>
                </a:tc>
                <a:extLst>
                  <a:ext uri="{0D108BD9-81ED-4DB2-BD59-A6C34878D82A}">
                    <a16:rowId xmlns:a16="http://schemas.microsoft.com/office/drawing/2014/main" val="2629854835"/>
                  </a:ext>
                </a:extLst>
              </a:tr>
              <a:tr h="522514">
                <a:tc>
                  <a:txBody>
                    <a:bodyPr/>
                    <a:lstStyle/>
                    <a:p>
                      <a:pPr algn="ctr"/>
                      <a:r>
                        <a:rPr lang="en-IN" sz="1600" b="0" dirty="0" err="1">
                          <a:latin typeface="Calibri" panose="020F0502020204030204" pitchFamily="34" charset="0"/>
                          <a:cs typeface="Calibri" panose="020F0502020204030204" pitchFamily="34" charset="0"/>
                        </a:rPr>
                        <a:t>day_of_week</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a:r>
                        <a:rPr lang="en-GB" sz="1600" b="0" dirty="0">
                          <a:latin typeface="Calibri" panose="020F0502020204030204" pitchFamily="34" charset="0"/>
                          <a:cs typeface="Calibri" panose="020F0502020204030204" pitchFamily="34" charset="0"/>
                        </a:rPr>
                        <a:t>int</a:t>
                      </a:r>
                      <a:endParaRPr lang="en-IN" sz="1600" b="0" dirty="0">
                        <a:latin typeface="Calibri" panose="020F0502020204030204" pitchFamily="34" charset="0"/>
                        <a:cs typeface="Calibri" panose="020F0502020204030204" pitchFamily="34" charset="0"/>
                      </a:endParaRPr>
                    </a:p>
                  </a:txBody>
                  <a:tcPr marL="88188" marR="88188" marT="44094" marB="440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tc>
                  <a:txBody>
                    <a:bodyPr/>
                    <a:lstStyle/>
                    <a:p>
                      <a:pPr algn="ctr" fontAlgn="b"/>
                      <a:r>
                        <a:rPr lang="en-GB" sz="1600" b="0" i="0" u="none" strike="noStrike" dirty="0">
                          <a:solidFill>
                            <a:srgbClr val="000000"/>
                          </a:solidFill>
                          <a:effectLst/>
                          <a:latin typeface="Calibri" panose="020F0502020204030204" pitchFamily="34" charset="0"/>
                          <a:cs typeface="Calibri" panose="020F0502020204030204" pitchFamily="34" charset="0"/>
                        </a:rPr>
                        <a:t>Indicates the weekday (e.g., Monday, Tuesday), enabling analysis of sales patterns by day.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9EDF4"/>
                    </a:solidFill>
                  </a:tcPr>
                </a:tc>
                <a:extLst>
                  <a:ext uri="{0D108BD9-81ED-4DB2-BD59-A6C34878D82A}">
                    <a16:rowId xmlns:a16="http://schemas.microsoft.com/office/drawing/2014/main" val="4185501070"/>
                  </a:ext>
                </a:extLst>
              </a:tr>
            </a:tbl>
          </a:graphicData>
        </a:graphic>
      </p:graphicFrame>
    </p:spTree>
    <p:extLst>
      <p:ext uri="{BB962C8B-B14F-4D97-AF65-F5344CB8AC3E}">
        <p14:creationId xmlns:p14="http://schemas.microsoft.com/office/powerpoint/2010/main" val="406750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Data Audit &amp; Quality Check</a:t>
            </a:r>
          </a:p>
        </p:txBody>
      </p:sp>
      <p:sp>
        <p:nvSpPr>
          <p:cNvPr id="6" name="TextBox 5">
            <a:extLst>
              <a:ext uri="{FF2B5EF4-FFF2-40B4-BE49-F238E27FC236}">
                <a16:creationId xmlns:a16="http://schemas.microsoft.com/office/drawing/2014/main" id="{A7F4C0CB-D1E6-A42C-91B0-6DE4ABD53F52}"/>
              </a:ext>
            </a:extLst>
          </p:cNvPr>
          <p:cNvSpPr txBox="1"/>
          <p:nvPr/>
        </p:nvSpPr>
        <p:spPr>
          <a:xfrm>
            <a:off x="381800" y="1121243"/>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Data audit and cleaning were performed to ensure the quality, consistency, and reliability of the dataset. The process included checking for missing values, duplicate records, incorrect data types, referential integrity issues, and validating business rules before conducting analysis and dashboard development.</a:t>
            </a:r>
            <a:endParaRPr lang="en-IN" dirty="0">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8B6898BD-C7F9-074F-A3B6-02AEAC11076A}"/>
              </a:ext>
            </a:extLst>
          </p:cNvPr>
          <p:cNvGraphicFramePr>
            <a:graphicFrameLocks noGrp="1"/>
          </p:cNvGraphicFramePr>
          <p:nvPr>
            <p:extLst>
              <p:ext uri="{D42A27DB-BD31-4B8C-83A1-F6EECF244321}">
                <p14:modId xmlns:p14="http://schemas.microsoft.com/office/powerpoint/2010/main" val="479088411"/>
              </p:ext>
            </p:extLst>
          </p:nvPr>
        </p:nvGraphicFramePr>
        <p:xfrm>
          <a:off x="381800" y="2325158"/>
          <a:ext cx="11428398" cy="3657600"/>
        </p:xfrm>
        <a:graphic>
          <a:graphicData uri="http://schemas.openxmlformats.org/drawingml/2006/table">
            <a:tbl>
              <a:tblPr firstRow="1" bandRow="1">
                <a:tableStyleId>{5C22544A-7EE6-4342-B048-85BDC9FD1C3A}</a:tableStyleId>
              </a:tblPr>
              <a:tblGrid>
                <a:gridCol w="3809466">
                  <a:extLst>
                    <a:ext uri="{9D8B030D-6E8A-4147-A177-3AD203B41FA5}">
                      <a16:colId xmlns:a16="http://schemas.microsoft.com/office/drawing/2014/main" val="20000"/>
                    </a:ext>
                  </a:extLst>
                </a:gridCol>
                <a:gridCol w="3809466">
                  <a:extLst>
                    <a:ext uri="{9D8B030D-6E8A-4147-A177-3AD203B41FA5}">
                      <a16:colId xmlns:a16="http://schemas.microsoft.com/office/drawing/2014/main" val="20001"/>
                    </a:ext>
                  </a:extLst>
                </a:gridCol>
                <a:gridCol w="3809466">
                  <a:extLst>
                    <a:ext uri="{9D8B030D-6E8A-4147-A177-3AD203B41FA5}">
                      <a16:colId xmlns:a16="http://schemas.microsoft.com/office/drawing/2014/main" val="20002"/>
                    </a:ext>
                  </a:extLst>
                </a:gridCol>
              </a:tblGrid>
              <a:tr h="609600">
                <a:tc>
                  <a:txBody>
                    <a:bodyPr/>
                    <a:lstStyle/>
                    <a:p>
                      <a:pPr algn="ctr"/>
                      <a:r>
                        <a:rPr sz="1600"/>
                        <a:t>Audit Check</a:t>
                      </a:r>
                    </a:p>
                  </a:txBody>
                  <a:tcPr>
                    <a:solidFill>
                      <a:srgbClr val="4F81BD"/>
                    </a:solidFill>
                  </a:tcPr>
                </a:tc>
                <a:tc>
                  <a:txBody>
                    <a:bodyPr/>
                    <a:lstStyle/>
                    <a:p>
                      <a:pPr algn="ctr"/>
                      <a:r>
                        <a:rPr sz="1600" dirty="0"/>
                        <a:t>Result</a:t>
                      </a:r>
                    </a:p>
                  </a:txBody>
                  <a:tcPr>
                    <a:solidFill>
                      <a:srgbClr val="4F81BD"/>
                    </a:solidFill>
                  </a:tcPr>
                </a:tc>
                <a:tc>
                  <a:txBody>
                    <a:bodyPr/>
                    <a:lstStyle/>
                    <a:p>
                      <a:pPr algn="ctr"/>
                      <a:r>
                        <a:rPr sz="1600" dirty="0"/>
                        <a:t>Status</a:t>
                      </a:r>
                    </a:p>
                  </a:txBody>
                  <a:tcPr>
                    <a:solidFill>
                      <a:srgbClr val="4F81BD"/>
                    </a:solidFill>
                  </a:tcPr>
                </a:tc>
                <a:extLst>
                  <a:ext uri="{0D108BD9-81ED-4DB2-BD59-A6C34878D82A}">
                    <a16:rowId xmlns:a16="http://schemas.microsoft.com/office/drawing/2014/main" val="10000"/>
                  </a:ext>
                </a:extLst>
              </a:tr>
              <a:tr h="609600">
                <a:tc>
                  <a:txBody>
                    <a:bodyPr/>
                    <a:lstStyle/>
                    <a:p>
                      <a:pPr algn="ctr"/>
                      <a:r>
                        <a:rPr sz="1600"/>
                        <a:t>Missing Values</a:t>
                      </a:r>
                    </a:p>
                  </a:txBody>
                  <a:tcPr>
                    <a:solidFill>
                      <a:srgbClr val="D0D8E8"/>
                    </a:solidFill>
                  </a:tcPr>
                </a:tc>
                <a:tc>
                  <a:txBody>
                    <a:bodyPr/>
                    <a:lstStyle/>
                    <a:p>
                      <a:pPr algn="ctr"/>
                      <a:r>
                        <a:rPr sz="1600"/>
                        <a:t>0</a:t>
                      </a:r>
                    </a:p>
                  </a:txBody>
                  <a:tcPr>
                    <a:solidFill>
                      <a:srgbClr val="D0D8E8"/>
                    </a:solidFill>
                  </a:tcPr>
                </a:tc>
                <a:tc>
                  <a:txBody>
                    <a:bodyPr/>
                    <a:lstStyle/>
                    <a:p>
                      <a:pPr algn="ctr"/>
                      <a:r>
                        <a:rPr sz="1600" dirty="0"/>
                        <a:t>PASS</a:t>
                      </a:r>
                    </a:p>
                  </a:txBody>
                  <a:tcPr>
                    <a:solidFill>
                      <a:srgbClr val="D0D8E8"/>
                    </a:solidFill>
                  </a:tcPr>
                </a:tc>
                <a:extLst>
                  <a:ext uri="{0D108BD9-81ED-4DB2-BD59-A6C34878D82A}">
                    <a16:rowId xmlns:a16="http://schemas.microsoft.com/office/drawing/2014/main" val="10001"/>
                  </a:ext>
                </a:extLst>
              </a:tr>
              <a:tr h="609600">
                <a:tc>
                  <a:txBody>
                    <a:bodyPr/>
                    <a:lstStyle/>
                    <a:p>
                      <a:pPr algn="ctr"/>
                      <a:r>
                        <a:rPr sz="1600"/>
                        <a:t>Duplicate Records</a:t>
                      </a:r>
                    </a:p>
                  </a:txBody>
                  <a:tcPr>
                    <a:solidFill>
                      <a:srgbClr val="E9EDF4"/>
                    </a:solidFill>
                  </a:tcPr>
                </a:tc>
                <a:tc>
                  <a:txBody>
                    <a:bodyPr/>
                    <a:lstStyle/>
                    <a:p>
                      <a:pPr algn="ctr"/>
                      <a:r>
                        <a:rPr sz="1600" dirty="0"/>
                        <a:t>Removed</a:t>
                      </a:r>
                    </a:p>
                  </a:txBody>
                  <a:tcPr>
                    <a:solidFill>
                      <a:srgbClr val="E9EDF4"/>
                    </a:solidFill>
                  </a:tcPr>
                </a:tc>
                <a:tc>
                  <a:txBody>
                    <a:bodyPr/>
                    <a:lstStyle/>
                    <a:p>
                      <a:pPr algn="ctr"/>
                      <a:r>
                        <a:rPr sz="1600" dirty="0"/>
                        <a:t>PASS</a:t>
                      </a:r>
                    </a:p>
                  </a:txBody>
                  <a:tcPr>
                    <a:solidFill>
                      <a:srgbClr val="E9EDF4"/>
                    </a:solidFill>
                  </a:tcPr>
                </a:tc>
                <a:extLst>
                  <a:ext uri="{0D108BD9-81ED-4DB2-BD59-A6C34878D82A}">
                    <a16:rowId xmlns:a16="http://schemas.microsoft.com/office/drawing/2014/main" val="10002"/>
                  </a:ext>
                </a:extLst>
              </a:tr>
              <a:tr h="609600">
                <a:tc>
                  <a:txBody>
                    <a:bodyPr/>
                    <a:lstStyle/>
                    <a:p>
                      <a:pPr algn="ctr"/>
                      <a:r>
                        <a:rPr sz="1600"/>
                        <a:t>Referential Integrity</a:t>
                      </a:r>
                    </a:p>
                  </a:txBody>
                  <a:tcPr>
                    <a:solidFill>
                      <a:srgbClr val="D0D8E8"/>
                    </a:solidFill>
                  </a:tcPr>
                </a:tc>
                <a:tc>
                  <a:txBody>
                    <a:bodyPr/>
                    <a:lstStyle/>
                    <a:p>
                      <a:pPr algn="ctr"/>
                      <a:r>
                        <a:rPr sz="1600" dirty="0"/>
                        <a:t>Validated</a:t>
                      </a:r>
                    </a:p>
                  </a:txBody>
                  <a:tcPr>
                    <a:solidFill>
                      <a:srgbClr val="D0D8E8"/>
                    </a:solidFill>
                  </a:tcPr>
                </a:tc>
                <a:tc>
                  <a:txBody>
                    <a:bodyPr/>
                    <a:lstStyle/>
                    <a:p>
                      <a:pPr algn="ctr"/>
                      <a:r>
                        <a:rPr sz="1600" dirty="0"/>
                        <a:t>PASS</a:t>
                      </a:r>
                    </a:p>
                  </a:txBody>
                  <a:tcPr>
                    <a:solidFill>
                      <a:srgbClr val="D0D8E8"/>
                    </a:solidFill>
                  </a:tcPr>
                </a:tc>
                <a:extLst>
                  <a:ext uri="{0D108BD9-81ED-4DB2-BD59-A6C34878D82A}">
                    <a16:rowId xmlns:a16="http://schemas.microsoft.com/office/drawing/2014/main" val="10003"/>
                  </a:ext>
                </a:extLst>
              </a:tr>
              <a:tr h="609600">
                <a:tc>
                  <a:txBody>
                    <a:bodyPr/>
                    <a:lstStyle/>
                    <a:p>
                      <a:pPr algn="ctr"/>
                      <a:r>
                        <a:rPr sz="1600"/>
                        <a:t>Negative Profit Rows</a:t>
                      </a:r>
                    </a:p>
                  </a:txBody>
                  <a:tcPr>
                    <a:solidFill>
                      <a:srgbClr val="E9EDF4"/>
                    </a:solidFill>
                  </a:tcPr>
                </a:tc>
                <a:tc>
                  <a:txBody>
                    <a:bodyPr/>
                    <a:lstStyle/>
                    <a:p>
                      <a:pPr algn="ctr"/>
                      <a:r>
                        <a:rPr sz="1600"/>
                        <a:t>Reviewed</a:t>
                      </a:r>
                    </a:p>
                  </a:txBody>
                  <a:tcPr>
                    <a:solidFill>
                      <a:srgbClr val="E9EDF4"/>
                    </a:solidFill>
                  </a:tcPr>
                </a:tc>
                <a:tc>
                  <a:txBody>
                    <a:bodyPr/>
                    <a:lstStyle/>
                    <a:p>
                      <a:pPr algn="ctr"/>
                      <a:r>
                        <a:rPr sz="1600" dirty="0"/>
                        <a:t>PASS</a:t>
                      </a:r>
                    </a:p>
                  </a:txBody>
                  <a:tcPr>
                    <a:solidFill>
                      <a:srgbClr val="E9EDF4"/>
                    </a:solidFill>
                  </a:tcPr>
                </a:tc>
                <a:extLst>
                  <a:ext uri="{0D108BD9-81ED-4DB2-BD59-A6C34878D82A}">
                    <a16:rowId xmlns:a16="http://schemas.microsoft.com/office/drawing/2014/main" val="10004"/>
                  </a:ext>
                </a:extLst>
              </a:tr>
              <a:tr h="609600">
                <a:tc>
                  <a:txBody>
                    <a:bodyPr/>
                    <a:lstStyle/>
                    <a:p>
                      <a:pPr algn="ctr"/>
                      <a:r>
                        <a:rPr sz="1600"/>
                        <a:t>Date Validation</a:t>
                      </a:r>
                    </a:p>
                  </a:txBody>
                  <a:tcPr>
                    <a:solidFill>
                      <a:srgbClr val="D0D8E8"/>
                    </a:solidFill>
                  </a:tcPr>
                </a:tc>
                <a:tc>
                  <a:txBody>
                    <a:bodyPr/>
                    <a:lstStyle/>
                    <a:p>
                      <a:pPr algn="ctr"/>
                      <a:r>
                        <a:rPr sz="1600"/>
                        <a:t>Validated</a:t>
                      </a:r>
                    </a:p>
                  </a:txBody>
                  <a:tcPr>
                    <a:solidFill>
                      <a:srgbClr val="D0D8E8"/>
                    </a:solidFill>
                  </a:tcPr>
                </a:tc>
                <a:tc>
                  <a:txBody>
                    <a:bodyPr/>
                    <a:lstStyle/>
                    <a:p>
                      <a:pPr algn="ctr"/>
                      <a:r>
                        <a:rPr sz="1600" dirty="0"/>
                        <a:t>PASS</a:t>
                      </a:r>
                    </a:p>
                  </a:txBody>
                  <a:tcP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72042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ER Diagram</a:t>
            </a:r>
          </a:p>
        </p:txBody>
      </p:sp>
      <p:pic>
        <p:nvPicPr>
          <p:cNvPr id="4" name="Picture 3">
            <a:extLst>
              <a:ext uri="{FF2B5EF4-FFF2-40B4-BE49-F238E27FC236}">
                <a16:creationId xmlns:a16="http://schemas.microsoft.com/office/drawing/2014/main" id="{28487211-8B64-C3D5-BA27-A5CAC1B77D82}"/>
              </a:ext>
            </a:extLst>
          </p:cNvPr>
          <p:cNvPicPr>
            <a:picLocks noChangeAspect="1"/>
          </p:cNvPicPr>
          <p:nvPr/>
        </p:nvPicPr>
        <p:blipFill>
          <a:blip r:embed="rId2"/>
          <a:stretch>
            <a:fillRect/>
          </a:stretch>
        </p:blipFill>
        <p:spPr>
          <a:xfrm>
            <a:off x="5501147" y="1119376"/>
            <a:ext cx="6489291" cy="4661992"/>
          </a:xfrm>
          <a:prstGeom prst="rect">
            <a:avLst/>
          </a:prstGeom>
        </p:spPr>
      </p:pic>
      <p:sp>
        <p:nvSpPr>
          <p:cNvPr id="7" name="TextBox 6">
            <a:extLst>
              <a:ext uri="{FF2B5EF4-FFF2-40B4-BE49-F238E27FC236}">
                <a16:creationId xmlns:a16="http://schemas.microsoft.com/office/drawing/2014/main" id="{9F97D42A-C9FF-D6D9-6416-45892DB5BF54}"/>
              </a:ext>
            </a:extLst>
          </p:cNvPr>
          <p:cNvSpPr txBox="1"/>
          <p:nvPr/>
        </p:nvSpPr>
        <p:spPr>
          <a:xfrm>
            <a:off x="381800" y="1326713"/>
            <a:ext cx="5119348" cy="4524315"/>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ER (Entity Relationship) Diagram represents the logical structure and relationships between different tables in the Chocolate Sales dataset. The Sales table acts as the central fact table and is connected to dimension tables including Products, Customers, Stores, and Calendar through unique identifiers such as </a:t>
            </a:r>
            <a:r>
              <a:rPr lang="en-GB" dirty="0" err="1">
                <a:latin typeface="Calibri" panose="020F0502020204030204" pitchFamily="34" charset="0"/>
                <a:cs typeface="Calibri" panose="020F0502020204030204" pitchFamily="34" charset="0"/>
              </a:rPr>
              <a:t>product_id</a:t>
            </a:r>
            <a:r>
              <a:rPr lang="en-GB" dirty="0">
                <a:latin typeface="Calibri" panose="020F0502020204030204" pitchFamily="34" charset="0"/>
                <a:cs typeface="Calibri" panose="020F0502020204030204" pitchFamily="34" charset="0"/>
              </a:rPr>
              <a:t>, </a:t>
            </a:r>
            <a:r>
              <a:rPr lang="en-GB" dirty="0" err="1">
                <a:latin typeface="Calibri" panose="020F0502020204030204" pitchFamily="34" charset="0"/>
                <a:cs typeface="Calibri" panose="020F0502020204030204" pitchFamily="34" charset="0"/>
              </a:rPr>
              <a:t>customer_id</a:t>
            </a:r>
            <a:r>
              <a:rPr lang="en-GB" dirty="0">
                <a:latin typeface="Calibri" panose="020F0502020204030204" pitchFamily="34" charset="0"/>
                <a:cs typeface="Calibri" panose="020F0502020204030204" pitchFamily="34" charset="0"/>
              </a:rPr>
              <a:t>, </a:t>
            </a:r>
            <a:r>
              <a:rPr lang="en-GB" dirty="0" err="1">
                <a:latin typeface="Calibri" panose="020F0502020204030204" pitchFamily="34" charset="0"/>
                <a:cs typeface="Calibri" panose="020F0502020204030204" pitchFamily="34" charset="0"/>
              </a:rPr>
              <a:t>store_id</a:t>
            </a:r>
            <a:r>
              <a:rPr lang="en-GB" dirty="0">
                <a:latin typeface="Calibri" panose="020F0502020204030204" pitchFamily="34" charset="0"/>
                <a:cs typeface="Calibri" panose="020F0502020204030204" pitchFamily="34" charset="0"/>
              </a:rPr>
              <a:t>, and date.</a:t>
            </a:r>
          </a:p>
          <a:p>
            <a:endParaRPr lang="en-GB"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This relational model helps maintain data consistency, supports efficient querying, and enables comprehensive analysis across sales, customer </a:t>
            </a:r>
            <a:r>
              <a:rPr lang="en-GB" dirty="0" err="1">
                <a:latin typeface="Calibri" panose="020F0502020204030204" pitchFamily="34" charset="0"/>
                <a:cs typeface="Calibri" panose="020F0502020204030204" pitchFamily="34" charset="0"/>
              </a:rPr>
              <a:t>behavior</a:t>
            </a:r>
            <a:r>
              <a:rPr lang="en-GB" dirty="0">
                <a:latin typeface="Calibri" panose="020F0502020204030204" pitchFamily="34" charset="0"/>
                <a:cs typeface="Calibri" panose="020F0502020204030204" pitchFamily="34" charset="0"/>
              </a:rPr>
              <a:t>, product performance, store operations, and time-based trends. The ER Diagram also ensures proper data integration for reporting, dashboard development, and business intelligence analysis in Power BI.</a:t>
            </a:r>
          </a:p>
        </p:txBody>
      </p:sp>
    </p:spTree>
    <p:extLst>
      <p:ext uri="{BB962C8B-B14F-4D97-AF65-F5344CB8AC3E}">
        <p14:creationId xmlns:p14="http://schemas.microsoft.com/office/powerpoint/2010/main" val="683097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KRA &amp; KPI Framework</a:t>
            </a:r>
          </a:p>
        </p:txBody>
      </p:sp>
      <p:sp>
        <p:nvSpPr>
          <p:cNvPr id="6" name="TextBox 5">
            <a:extLst>
              <a:ext uri="{FF2B5EF4-FFF2-40B4-BE49-F238E27FC236}">
                <a16:creationId xmlns:a16="http://schemas.microsoft.com/office/drawing/2014/main" id="{B030B181-CDA3-4F05-8E2A-BD074BD6BC17}"/>
              </a:ext>
            </a:extLst>
          </p:cNvPr>
          <p:cNvSpPr txBox="1"/>
          <p:nvPr/>
        </p:nvSpPr>
        <p:spPr>
          <a:xfrm>
            <a:off x="381800" y="1076998"/>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KRA (Key Result Areas) and KPI (Key Performance Indicators) framework was designed to measure overall business performance. KPIs such as Total Revenue, Profit Margin, Average Order Value, and Customer Retention help evaluate sales growth, operational efficiency, and customer engagement.</a:t>
            </a:r>
            <a:endParaRPr lang="en-IN" dirty="0">
              <a:latin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F81C98DD-39B2-5E40-DD9D-220743125D21}"/>
              </a:ext>
            </a:extLst>
          </p:cNvPr>
          <p:cNvGraphicFramePr>
            <a:graphicFrameLocks noGrp="1"/>
          </p:cNvGraphicFramePr>
          <p:nvPr>
            <p:extLst>
              <p:ext uri="{D42A27DB-BD31-4B8C-83A1-F6EECF244321}">
                <p14:modId xmlns:p14="http://schemas.microsoft.com/office/powerpoint/2010/main" val="2976803475"/>
              </p:ext>
            </p:extLst>
          </p:nvPr>
        </p:nvGraphicFramePr>
        <p:xfrm>
          <a:off x="381799" y="2344994"/>
          <a:ext cx="11428398" cy="3657600"/>
        </p:xfrm>
        <a:graphic>
          <a:graphicData uri="http://schemas.openxmlformats.org/drawingml/2006/table">
            <a:tbl>
              <a:tblPr firstRow="1" bandRow="1">
                <a:tableStyleId>{5C22544A-7EE6-4342-B048-85BDC9FD1C3A}</a:tableStyleId>
              </a:tblPr>
              <a:tblGrid>
                <a:gridCol w="3809466">
                  <a:extLst>
                    <a:ext uri="{9D8B030D-6E8A-4147-A177-3AD203B41FA5}">
                      <a16:colId xmlns:a16="http://schemas.microsoft.com/office/drawing/2014/main" val="20000"/>
                    </a:ext>
                  </a:extLst>
                </a:gridCol>
                <a:gridCol w="3809466">
                  <a:extLst>
                    <a:ext uri="{9D8B030D-6E8A-4147-A177-3AD203B41FA5}">
                      <a16:colId xmlns:a16="http://schemas.microsoft.com/office/drawing/2014/main" val="20001"/>
                    </a:ext>
                  </a:extLst>
                </a:gridCol>
                <a:gridCol w="3809466">
                  <a:extLst>
                    <a:ext uri="{9D8B030D-6E8A-4147-A177-3AD203B41FA5}">
                      <a16:colId xmlns:a16="http://schemas.microsoft.com/office/drawing/2014/main" val="20002"/>
                    </a:ext>
                  </a:extLst>
                </a:gridCol>
              </a:tblGrid>
              <a:tr h="609600">
                <a:tc>
                  <a:txBody>
                    <a:bodyPr/>
                    <a:lstStyle/>
                    <a:p>
                      <a:pPr algn="ctr"/>
                      <a:r>
                        <a:t>KRA</a:t>
                      </a:r>
                    </a:p>
                  </a:txBody>
                  <a:tcPr>
                    <a:solidFill>
                      <a:srgbClr val="4F81BD"/>
                    </a:solidFill>
                  </a:tcPr>
                </a:tc>
                <a:tc>
                  <a:txBody>
                    <a:bodyPr/>
                    <a:lstStyle/>
                    <a:p>
                      <a:pPr algn="ctr"/>
                      <a:r>
                        <a:rPr dirty="0"/>
                        <a:t>KPI</a:t>
                      </a:r>
                    </a:p>
                  </a:txBody>
                  <a:tcPr>
                    <a:solidFill>
                      <a:srgbClr val="4F81BD"/>
                    </a:solidFill>
                  </a:tcPr>
                </a:tc>
                <a:tc>
                  <a:txBody>
                    <a:bodyPr/>
                    <a:lstStyle/>
                    <a:p>
                      <a:pPr algn="ctr"/>
                      <a:r>
                        <a:rPr dirty="0"/>
                        <a:t>Business Purpose</a:t>
                      </a:r>
                    </a:p>
                  </a:txBody>
                  <a:tcPr>
                    <a:solidFill>
                      <a:srgbClr val="4F81BD"/>
                    </a:solidFill>
                  </a:tcPr>
                </a:tc>
                <a:extLst>
                  <a:ext uri="{0D108BD9-81ED-4DB2-BD59-A6C34878D82A}">
                    <a16:rowId xmlns:a16="http://schemas.microsoft.com/office/drawing/2014/main" val="10000"/>
                  </a:ext>
                </a:extLst>
              </a:tr>
              <a:tr h="609600">
                <a:tc>
                  <a:txBody>
                    <a:bodyPr/>
                    <a:lstStyle/>
                    <a:p>
                      <a:pPr algn="ctr"/>
                      <a:r>
                        <a:t>Sales Performance</a:t>
                      </a:r>
                    </a:p>
                  </a:txBody>
                  <a:tcPr>
                    <a:solidFill>
                      <a:srgbClr val="D0D8E8"/>
                    </a:solidFill>
                  </a:tcPr>
                </a:tc>
                <a:tc>
                  <a:txBody>
                    <a:bodyPr/>
                    <a:lstStyle/>
                    <a:p>
                      <a:pPr algn="ctr"/>
                      <a:r>
                        <a:t>Total Revenue</a:t>
                      </a:r>
                    </a:p>
                  </a:txBody>
                  <a:tcPr>
                    <a:solidFill>
                      <a:srgbClr val="D0D8E8"/>
                    </a:solidFill>
                  </a:tcPr>
                </a:tc>
                <a:tc>
                  <a:txBody>
                    <a:bodyPr/>
                    <a:lstStyle/>
                    <a:p>
                      <a:pPr algn="ctr"/>
                      <a:r>
                        <a:rPr dirty="0"/>
                        <a:t>Measure business growth</a:t>
                      </a:r>
                    </a:p>
                  </a:txBody>
                  <a:tcPr>
                    <a:solidFill>
                      <a:srgbClr val="D0D8E8"/>
                    </a:solidFill>
                  </a:tcPr>
                </a:tc>
                <a:extLst>
                  <a:ext uri="{0D108BD9-81ED-4DB2-BD59-A6C34878D82A}">
                    <a16:rowId xmlns:a16="http://schemas.microsoft.com/office/drawing/2014/main" val="10001"/>
                  </a:ext>
                </a:extLst>
              </a:tr>
              <a:tr h="609600">
                <a:tc>
                  <a:txBody>
                    <a:bodyPr/>
                    <a:lstStyle/>
                    <a:p>
                      <a:pPr algn="ctr"/>
                      <a:r>
                        <a:t>Profitability</a:t>
                      </a:r>
                    </a:p>
                  </a:txBody>
                  <a:tcPr>
                    <a:solidFill>
                      <a:srgbClr val="E9EDF4"/>
                    </a:solidFill>
                  </a:tcPr>
                </a:tc>
                <a:tc>
                  <a:txBody>
                    <a:bodyPr/>
                    <a:lstStyle/>
                    <a:p>
                      <a:pPr algn="ctr"/>
                      <a:r>
                        <a:rPr dirty="0"/>
                        <a:t>Profit Margin</a:t>
                      </a:r>
                    </a:p>
                  </a:txBody>
                  <a:tcPr>
                    <a:solidFill>
                      <a:srgbClr val="E9EDF4"/>
                    </a:solidFill>
                  </a:tcPr>
                </a:tc>
                <a:tc>
                  <a:txBody>
                    <a:bodyPr/>
                    <a:lstStyle/>
                    <a:p>
                      <a:pPr algn="ctr"/>
                      <a:r>
                        <a:rPr dirty="0"/>
                        <a:t>Track operational efficiency</a:t>
                      </a:r>
                    </a:p>
                  </a:txBody>
                  <a:tcPr>
                    <a:solidFill>
                      <a:srgbClr val="E9EDF4"/>
                    </a:solidFill>
                  </a:tcPr>
                </a:tc>
                <a:extLst>
                  <a:ext uri="{0D108BD9-81ED-4DB2-BD59-A6C34878D82A}">
                    <a16:rowId xmlns:a16="http://schemas.microsoft.com/office/drawing/2014/main" val="10002"/>
                  </a:ext>
                </a:extLst>
              </a:tr>
              <a:tr h="609600">
                <a:tc>
                  <a:txBody>
                    <a:bodyPr/>
                    <a:lstStyle/>
                    <a:p>
                      <a:pPr algn="ctr"/>
                      <a:r>
                        <a:t>Customer Engagement</a:t>
                      </a:r>
                    </a:p>
                  </a:txBody>
                  <a:tcPr>
                    <a:solidFill>
                      <a:srgbClr val="D0D8E8"/>
                    </a:solidFill>
                  </a:tcPr>
                </a:tc>
                <a:tc>
                  <a:txBody>
                    <a:bodyPr/>
                    <a:lstStyle/>
                    <a:p>
                      <a:pPr algn="ctr"/>
                      <a:r>
                        <a:t>Loyalty Sales %</a:t>
                      </a:r>
                    </a:p>
                  </a:txBody>
                  <a:tcPr>
                    <a:solidFill>
                      <a:srgbClr val="D0D8E8"/>
                    </a:solidFill>
                  </a:tcPr>
                </a:tc>
                <a:tc>
                  <a:txBody>
                    <a:bodyPr/>
                    <a:lstStyle/>
                    <a:p>
                      <a:pPr algn="ctr"/>
                      <a:r>
                        <a:rPr dirty="0"/>
                        <a:t>Measure retention</a:t>
                      </a:r>
                    </a:p>
                  </a:txBody>
                  <a:tcPr>
                    <a:solidFill>
                      <a:srgbClr val="D0D8E8"/>
                    </a:solidFill>
                  </a:tcPr>
                </a:tc>
                <a:extLst>
                  <a:ext uri="{0D108BD9-81ED-4DB2-BD59-A6C34878D82A}">
                    <a16:rowId xmlns:a16="http://schemas.microsoft.com/office/drawing/2014/main" val="10003"/>
                  </a:ext>
                </a:extLst>
              </a:tr>
              <a:tr h="609600">
                <a:tc>
                  <a:txBody>
                    <a:bodyPr/>
                    <a:lstStyle/>
                    <a:p>
                      <a:pPr algn="ctr"/>
                      <a:r>
                        <a:t>Product Performance</a:t>
                      </a:r>
                    </a:p>
                  </a:txBody>
                  <a:tcPr>
                    <a:solidFill>
                      <a:srgbClr val="E9EDF4"/>
                    </a:solidFill>
                  </a:tcPr>
                </a:tc>
                <a:tc>
                  <a:txBody>
                    <a:bodyPr/>
                    <a:lstStyle/>
                    <a:p>
                      <a:pPr algn="ctr"/>
                      <a:r>
                        <a:rPr dirty="0"/>
                        <a:t>Top Products</a:t>
                      </a:r>
                    </a:p>
                  </a:txBody>
                  <a:tcPr>
                    <a:solidFill>
                      <a:srgbClr val="E9EDF4"/>
                    </a:solidFill>
                  </a:tcPr>
                </a:tc>
                <a:tc>
                  <a:txBody>
                    <a:bodyPr/>
                    <a:lstStyle/>
                    <a:p>
                      <a:pPr algn="ctr"/>
                      <a:r>
                        <a:rPr dirty="0"/>
                        <a:t>Identify best sellers</a:t>
                      </a:r>
                    </a:p>
                  </a:txBody>
                  <a:tcPr>
                    <a:solidFill>
                      <a:srgbClr val="E9EDF4"/>
                    </a:solidFill>
                  </a:tcPr>
                </a:tc>
                <a:extLst>
                  <a:ext uri="{0D108BD9-81ED-4DB2-BD59-A6C34878D82A}">
                    <a16:rowId xmlns:a16="http://schemas.microsoft.com/office/drawing/2014/main" val="10004"/>
                  </a:ext>
                </a:extLst>
              </a:tr>
              <a:tr h="609600">
                <a:tc>
                  <a:txBody>
                    <a:bodyPr/>
                    <a:lstStyle/>
                    <a:p>
                      <a:pPr algn="ctr"/>
                      <a:r>
                        <a:t>Store Efficiency</a:t>
                      </a:r>
                    </a:p>
                  </a:txBody>
                  <a:tcPr>
                    <a:solidFill>
                      <a:srgbClr val="D0D8E8"/>
                    </a:solidFill>
                  </a:tcPr>
                </a:tc>
                <a:tc>
                  <a:txBody>
                    <a:bodyPr/>
                    <a:lstStyle/>
                    <a:p>
                      <a:pPr algn="ctr"/>
                      <a:r>
                        <a:t>Revenue per Store</a:t>
                      </a:r>
                    </a:p>
                  </a:txBody>
                  <a:tcPr>
                    <a:solidFill>
                      <a:srgbClr val="D0D8E8"/>
                    </a:solidFill>
                  </a:tcPr>
                </a:tc>
                <a:tc>
                  <a:txBody>
                    <a:bodyPr/>
                    <a:lstStyle/>
                    <a:p>
                      <a:pPr algn="ctr"/>
                      <a:r>
                        <a:rPr dirty="0"/>
                        <a:t>Compare locations</a:t>
                      </a:r>
                    </a:p>
                  </a:txBody>
                  <a:tcP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6291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Technology Stack to be Used</a:t>
            </a:r>
          </a:p>
        </p:txBody>
      </p:sp>
      <p:sp>
        <p:nvSpPr>
          <p:cNvPr id="4" name="Text Placeholder 1">
            <a:extLst>
              <a:ext uri="{FF2B5EF4-FFF2-40B4-BE49-F238E27FC236}">
                <a16:creationId xmlns:a16="http://schemas.microsoft.com/office/drawing/2014/main" id="{2721F395-C3BE-C8FE-FD9E-998DAD0C3BCE}"/>
              </a:ext>
            </a:extLst>
          </p:cNvPr>
          <p:cNvSpPr txBox="1">
            <a:spLocks/>
          </p:cNvSpPr>
          <p:nvPr/>
        </p:nvSpPr>
        <p:spPr>
          <a:xfrm>
            <a:off x="381800" y="1666567"/>
            <a:ext cx="10950603" cy="429772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472012" indent="-285750">
              <a:buFont typeface="Wingdings" panose="05000000000000000000" pitchFamily="2" charset="2"/>
              <a:buChar char="v"/>
            </a:pPr>
            <a:r>
              <a:rPr lang="en-US" sz="1800" b="1" i="1" kern="0" dirty="0">
                <a:latin typeface="Calibri" panose="020F0502020204030204" pitchFamily="34" charset="0"/>
                <a:cs typeface="Calibri" panose="020F0502020204030204" pitchFamily="34" charset="0"/>
              </a:rPr>
              <a:t>Snowflake : </a:t>
            </a:r>
            <a:r>
              <a:rPr lang="en-US" sz="1800" kern="0" dirty="0">
                <a:latin typeface="Calibri" panose="020F0502020204030204" pitchFamily="34" charset="0"/>
                <a:cs typeface="Calibri" panose="020F0502020204030204" pitchFamily="34" charset="0"/>
              </a:rPr>
              <a:t>Cloud based Data Storage, perform Data Audit/ Cleaning tasks and to do EDA.</a:t>
            </a:r>
          </a:p>
          <a:p>
            <a:pPr marL="186262"/>
            <a:endParaRPr lang="en-US" sz="1800" b="1" i="1" kern="0" dirty="0">
              <a:latin typeface="Calibri" panose="020F0502020204030204" pitchFamily="34" charset="0"/>
              <a:cs typeface="Calibri" panose="020F0502020204030204" pitchFamily="34" charset="0"/>
            </a:endParaRPr>
          </a:p>
          <a:p>
            <a:pPr marL="472012" indent="-285750">
              <a:buFont typeface="Wingdings" panose="05000000000000000000" pitchFamily="2" charset="2"/>
              <a:buChar char="v"/>
            </a:pPr>
            <a:r>
              <a:rPr lang="en-US" sz="1800" b="1" i="1" kern="0" dirty="0">
                <a:latin typeface="Calibri" panose="020F0502020204030204" pitchFamily="34" charset="0"/>
                <a:cs typeface="Calibri" panose="020F0502020204030204" pitchFamily="34" charset="0"/>
              </a:rPr>
              <a:t>Power bi : </a:t>
            </a:r>
            <a:r>
              <a:rPr lang="en-US" sz="1800" kern="0" dirty="0">
                <a:latin typeface="Calibri" panose="020F0502020204030204" pitchFamily="34" charset="0"/>
                <a:cs typeface="Calibri" panose="020F0502020204030204" pitchFamily="34" charset="0"/>
              </a:rPr>
              <a:t>Creating Dashboards as per layout and define calculated measures for all KPIs.</a:t>
            </a:r>
          </a:p>
          <a:p>
            <a:pPr marL="186262"/>
            <a:endParaRPr lang="en-US" sz="1800" kern="0" dirty="0">
              <a:latin typeface="Calibri" panose="020F0502020204030204" pitchFamily="34" charset="0"/>
              <a:cs typeface="Calibri" panose="020F0502020204030204" pitchFamily="34" charset="0"/>
            </a:endParaRPr>
          </a:p>
          <a:p>
            <a:pPr marL="472012" indent="-285750">
              <a:buFont typeface="Wingdings" panose="05000000000000000000" pitchFamily="2" charset="2"/>
              <a:buChar char="v"/>
            </a:pPr>
            <a:r>
              <a:rPr lang="en-US" sz="1800" b="1" i="1" kern="0" dirty="0">
                <a:latin typeface="Calibri" panose="020F0502020204030204" pitchFamily="34" charset="0"/>
                <a:cs typeface="Calibri" panose="020F0502020204030204" pitchFamily="34" charset="0"/>
              </a:rPr>
              <a:t>Databricks : </a:t>
            </a:r>
            <a:r>
              <a:rPr lang="en-US" sz="1800" kern="0" dirty="0">
                <a:latin typeface="Calibri" panose="020F0502020204030204" pitchFamily="34" charset="0"/>
                <a:cs typeface="Calibri" panose="020F0502020204030204" pitchFamily="34" charset="0"/>
              </a:rPr>
              <a:t>Data engineering, preprocessing, and machine learning workflows</a:t>
            </a:r>
          </a:p>
          <a:p>
            <a:pPr marL="186262"/>
            <a:endParaRPr lang="en-US" sz="1800" kern="0" dirty="0">
              <a:latin typeface="Calibri" panose="020F0502020204030204" pitchFamily="34" charset="0"/>
              <a:cs typeface="Calibri" panose="020F0502020204030204" pitchFamily="34" charset="0"/>
            </a:endParaRPr>
          </a:p>
          <a:p>
            <a:pPr marL="472012" indent="-285750">
              <a:buFont typeface="Wingdings" panose="05000000000000000000" pitchFamily="2" charset="2"/>
              <a:buChar char="v"/>
            </a:pPr>
            <a:r>
              <a:rPr lang="en-US" sz="1800" b="1" i="1" kern="0" dirty="0">
                <a:latin typeface="Calibri" panose="020F0502020204030204" pitchFamily="34" charset="0"/>
                <a:cs typeface="Calibri" panose="020F0502020204030204" pitchFamily="34" charset="0"/>
              </a:rPr>
              <a:t>Excel/ppt : </a:t>
            </a:r>
            <a:r>
              <a:rPr lang="en-US" sz="1800" kern="0" dirty="0">
                <a:latin typeface="Calibri" panose="020F0502020204030204" pitchFamily="34" charset="0"/>
                <a:cs typeface="Calibri" panose="020F0502020204030204" pitchFamily="34" charset="0"/>
              </a:rPr>
              <a:t>For creating presentations and explaining insights and recommendations.</a:t>
            </a:r>
          </a:p>
          <a:p>
            <a:pPr marL="186262"/>
            <a:endParaRPr lang="en-US" sz="1800" b="1" i="1" kern="0" dirty="0">
              <a:latin typeface="Calibri" panose="020F0502020204030204" pitchFamily="34" charset="0"/>
              <a:cs typeface="Calibri" panose="020F0502020204030204" pitchFamily="34" charset="0"/>
            </a:endParaRPr>
          </a:p>
          <a:p>
            <a:pPr marL="472012" indent="-285750">
              <a:buFont typeface="Wingdings" panose="05000000000000000000" pitchFamily="2" charset="2"/>
              <a:buChar char="v"/>
            </a:pPr>
            <a:r>
              <a:rPr lang="en-US" sz="1800" b="1" i="1" kern="0" dirty="0">
                <a:latin typeface="Calibri" panose="020F0502020204030204" pitchFamily="34" charset="0"/>
                <a:cs typeface="Calibri" panose="020F0502020204030204" pitchFamily="34" charset="0"/>
              </a:rPr>
              <a:t>Python :</a:t>
            </a:r>
            <a:r>
              <a:rPr lang="en-IN" sz="1800" b="1" i="1" kern="0" dirty="0">
                <a:latin typeface="Calibri" panose="020F0502020204030204" pitchFamily="34" charset="0"/>
                <a:cs typeface="Calibri" panose="020F0502020204030204" pitchFamily="34" charset="0"/>
              </a:rPr>
              <a:t> </a:t>
            </a:r>
            <a:r>
              <a:rPr lang="en-IN" sz="1800" kern="0" dirty="0">
                <a:latin typeface="Calibri" panose="020F0502020204030204" pitchFamily="34" charset="0"/>
                <a:cs typeface="Calibri" panose="020F0502020204030204" pitchFamily="34" charset="0"/>
              </a:rPr>
              <a:t>For descriptive, diagnostic and predictive analysis.</a:t>
            </a:r>
            <a:endParaRPr lang="en-US" sz="1800" kern="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53785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KRA &amp; KPI Framework</a:t>
            </a:r>
          </a:p>
        </p:txBody>
      </p:sp>
      <p:sp>
        <p:nvSpPr>
          <p:cNvPr id="4" name="TextBox 3">
            <a:extLst>
              <a:ext uri="{FF2B5EF4-FFF2-40B4-BE49-F238E27FC236}">
                <a16:creationId xmlns:a16="http://schemas.microsoft.com/office/drawing/2014/main" id="{67910604-1DA8-068D-D15B-EDF39BE3E4F1}"/>
              </a:ext>
            </a:extLst>
          </p:cNvPr>
          <p:cNvSpPr txBox="1"/>
          <p:nvPr/>
        </p:nvSpPr>
        <p:spPr>
          <a:xfrm>
            <a:off x="381799" y="1224482"/>
            <a:ext cx="11428399"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KRA (Key Result Areas) and KPI (Key Performance Indicators) framework was designed to measure overall business performance. KPIs such as Total Revenue, Profit Margin, Average Order Value, and Customer Retention help evaluate sales growth, operational efficiency, and customer engagement.</a:t>
            </a:r>
            <a:endParaRPr lang="en-IN" dirty="0">
              <a:latin typeface="Calibri" panose="020F0502020204030204" pitchFamily="34" charset="0"/>
              <a:cs typeface="Calibri" panose="020F0502020204030204" pitchFamily="34" charset="0"/>
            </a:endParaRPr>
          </a:p>
        </p:txBody>
      </p:sp>
      <p:graphicFrame>
        <p:nvGraphicFramePr>
          <p:cNvPr id="5" name="Table 4">
            <a:extLst>
              <a:ext uri="{FF2B5EF4-FFF2-40B4-BE49-F238E27FC236}">
                <a16:creationId xmlns:a16="http://schemas.microsoft.com/office/drawing/2014/main" id="{6C507E36-0D06-E97E-517E-F1BFE386BB7B}"/>
              </a:ext>
            </a:extLst>
          </p:cNvPr>
          <p:cNvGraphicFramePr>
            <a:graphicFrameLocks noGrp="1"/>
          </p:cNvGraphicFramePr>
          <p:nvPr>
            <p:extLst>
              <p:ext uri="{D42A27DB-BD31-4B8C-83A1-F6EECF244321}">
                <p14:modId xmlns:p14="http://schemas.microsoft.com/office/powerpoint/2010/main" val="3532593921"/>
              </p:ext>
            </p:extLst>
          </p:nvPr>
        </p:nvGraphicFramePr>
        <p:xfrm>
          <a:off x="381798" y="2531636"/>
          <a:ext cx="11428398" cy="3470958"/>
        </p:xfrm>
        <a:graphic>
          <a:graphicData uri="http://schemas.openxmlformats.org/drawingml/2006/table">
            <a:tbl>
              <a:tblPr firstRow="1" bandRow="1">
                <a:tableStyleId>{5C22544A-7EE6-4342-B048-85BDC9FD1C3A}</a:tableStyleId>
              </a:tblPr>
              <a:tblGrid>
                <a:gridCol w="3809466">
                  <a:extLst>
                    <a:ext uri="{9D8B030D-6E8A-4147-A177-3AD203B41FA5}">
                      <a16:colId xmlns:a16="http://schemas.microsoft.com/office/drawing/2014/main" val="20000"/>
                    </a:ext>
                  </a:extLst>
                </a:gridCol>
                <a:gridCol w="3809466">
                  <a:extLst>
                    <a:ext uri="{9D8B030D-6E8A-4147-A177-3AD203B41FA5}">
                      <a16:colId xmlns:a16="http://schemas.microsoft.com/office/drawing/2014/main" val="20001"/>
                    </a:ext>
                  </a:extLst>
                </a:gridCol>
                <a:gridCol w="3809466">
                  <a:extLst>
                    <a:ext uri="{9D8B030D-6E8A-4147-A177-3AD203B41FA5}">
                      <a16:colId xmlns:a16="http://schemas.microsoft.com/office/drawing/2014/main" val="20002"/>
                    </a:ext>
                  </a:extLst>
                </a:gridCol>
              </a:tblGrid>
              <a:tr h="578493">
                <a:tc>
                  <a:txBody>
                    <a:bodyPr/>
                    <a:lstStyle/>
                    <a:p>
                      <a:pPr algn="ctr"/>
                      <a:r>
                        <a:rPr sz="1600">
                          <a:latin typeface="Calibri" panose="020F0502020204030204" pitchFamily="34" charset="0"/>
                          <a:cs typeface="Calibri" panose="020F0502020204030204" pitchFamily="34" charset="0"/>
                        </a:rPr>
                        <a:t>KRA</a:t>
                      </a:r>
                    </a:p>
                  </a:txBody>
                  <a:tcPr>
                    <a:solidFill>
                      <a:srgbClr val="4F81BD"/>
                    </a:solidFill>
                  </a:tcPr>
                </a:tc>
                <a:tc>
                  <a:txBody>
                    <a:bodyPr/>
                    <a:lstStyle/>
                    <a:p>
                      <a:pPr algn="ctr"/>
                      <a:r>
                        <a:rPr sz="1600" dirty="0">
                          <a:latin typeface="Calibri" panose="020F0502020204030204" pitchFamily="34" charset="0"/>
                          <a:cs typeface="Calibri" panose="020F0502020204030204" pitchFamily="34" charset="0"/>
                        </a:rPr>
                        <a:t>KPI</a:t>
                      </a:r>
                    </a:p>
                  </a:txBody>
                  <a:tcPr>
                    <a:solidFill>
                      <a:srgbClr val="4F81BD"/>
                    </a:solidFill>
                  </a:tcPr>
                </a:tc>
                <a:tc>
                  <a:txBody>
                    <a:bodyPr/>
                    <a:lstStyle/>
                    <a:p>
                      <a:pPr algn="ctr"/>
                      <a:r>
                        <a:rPr sz="1600" dirty="0">
                          <a:latin typeface="Calibri" panose="020F0502020204030204" pitchFamily="34" charset="0"/>
                          <a:cs typeface="Calibri" panose="020F0502020204030204" pitchFamily="34" charset="0"/>
                        </a:rPr>
                        <a:t>Business Purpose</a:t>
                      </a:r>
                    </a:p>
                  </a:txBody>
                  <a:tcPr>
                    <a:solidFill>
                      <a:srgbClr val="4F81BD"/>
                    </a:solidFill>
                  </a:tcPr>
                </a:tc>
                <a:extLst>
                  <a:ext uri="{0D108BD9-81ED-4DB2-BD59-A6C34878D82A}">
                    <a16:rowId xmlns:a16="http://schemas.microsoft.com/office/drawing/2014/main" val="10000"/>
                  </a:ext>
                </a:extLst>
              </a:tr>
              <a:tr h="578493">
                <a:tc>
                  <a:txBody>
                    <a:bodyPr/>
                    <a:lstStyle/>
                    <a:p>
                      <a:pPr algn="ctr"/>
                      <a:r>
                        <a:rPr sz="1600">
                          <a:latin typeface="Calibri" panose="020F0502020204030204" pitchFamily="34" charset="0"/>
                          <a:cs typeface="Calibri" panose="020F0502020204030204" pitchFamily="34" charset="0"/>
                        </a:rPr>
                        <a:t>Sales Performance</a:t>
                      </a:r>
                    </a:p>
                  </a:txBody>
                  <a:tcPr>
                    <a:solidFill>
                      <a:srgbClr val="D0D8E8"/>
                    </a:solidFill>
                  </a:tcPr>
                </a:tc>
                <a:tc>
                  <a:txBody>
                    <a:bodyPr/>
                    <a:lstStyle/>
                    <a:p>
                      <a:pPr algn="ctr"/>
                      <a:r>
                        <a:rPr sz="1600">
                          <a:latin typeface="Calibri" panose="020F0502020204030204" pitchFamily="34" charset="0"/>
                          <a:cs typeface="Calibri" panose="020F0502020204030204" pitchFamily="34" charset="0"/>
                        </a:rPr>
                        <a:t>Total Revenue</a:t>
                      </a:r>
                    </a:p>
                  </a:txBody>
                  <a:tcPr>
                    <a:solidFill>
                      <a:srgbClr val="D0D8E8"/>
                    </a:solidFill>
                  </a:tcPr>
                </a:tc>
                <a:tc>
                  <a:txBody>
                    <a:bodyPr/>
                    <a:lstStyle/>
                    <a:p>
                      <a:pPr algn="ctr"/>
                      <a:r>
                        <a:rPr sz="1600" dirty="0">
                          <a:latin typeface="Calibri" panose="020F0502020204030204" pitchFamily="34" charset="0"/>
                          <a:cs typeface="Calibri" panose="020F0502020204030204" pitchFamily="34" charset="0"/>
                        </a:rPr>
                        <a:t>Measure business growth</a:t>
                      </a:r>
                    </a:p>
                  </a:txBody>
                  <a:tcPr>
                    <a:solidFill>
                      <a:srgbClr val="D0D8E8"/>
                    </a:solidFill>
                  </a:tcPr>
                </a:tc>
                <a:extLst>
                  <a:ext uri="{0D108BD9-81ED-4DB2-BD59-A6C34878D82A}">
                    <a16:rowId xmlns:a16="http://schemas.microsoft.com/office/drawing/2014/main" val="10001"/>
                  </a:ext>
                </a:extLst>
              </a:tr>
              <a:tr h="578493">
                <a:tc>
                  <a:txBody>
                    <a:bodyPr/>
                    <a:lstStyle/>
                    <a:p>
                      <a:pPr algn="ctr"/>
                      <a:r>
                        <a:rPr sz="1600">
                          <a:latin typeface="Calibri" panose="020F0502020204030204" pitchFamily="34" charset="0"/>
                          <a:cs typeface="Calibri" panose="020F0502020204030204" pitchFamily="34" charset="0"/>
                        </a:rPr>
                        <a:t>Profitability</a:t>
                      </a:r>
                    </a:p>
                  </a:txBody>
                  <a:tcPr>
                    <a:solidFill>
                      <a:srgbClr val="E9EDF4"/>
                    </a:solidFill>
                  </a:tcPr>
                </a:tc>
                <a:tc>
                  <a:txBody>
                    <a:bodyPr/>
                    <a:lstStyle/>
                    <a:p>
                      <a:pPr algn="ctr"/>
                      <a:r>
                        <a:rPr sz="1600" dirty="0">
                          <a:latin typeface="Calibri" panose="020F0502020204030204" pitchFamily="34" charset="0"/>
                          <a:cs typeface="Calibri" panose="020F0502020204030204" pitchFamily="34" charset="0"/>
                        </a:rPr>
                        <a:t>Profit Margin</a:t>
                      </a:r>
                    </a:p>
                  </a:txBody>
                  <a:tcPr>
                    <a:solidFill>
                      <a:srgbClr val="E9EDF4"/>
                    </a:solidFill>
                  </a:tcPr>
                </a:tc>
                <a:tc>
                  <a:txBody>
                    <a:bodyPr/>
                    <a:lstStyle/>
                    <a:p>
                      <a:pPr algn="ctr"/>
                      <a:r>
                        <a:rPr sz="1600" dirty="0">
                          <a:latin typeface="Calibri" panose="020F0502020204030204" pitchFamily="34" charset="0"/>
                          <a:cs typeface="Calibri" panose="020F0502020204030204" pitchFamily="34" charset="0"/>
                        </a:rPr>
                        <a:t>Track operational efficiency</a:t>
                      </a:r>
                    </a:p>
                  </a:txBody>
                  <a:tcPr>
                    <a:solidFill>
                      <a:srgbClr val="E9EDF4"/>
                    </a:solidFill>
                  </a:tcPr>
                </a:tc>
                <a:extLst>
                  <a:ext uri="{0D108BD9-81ED-4DB2-BD59-A6C34878D82A}">
                    <a16:rowId xmlns:a16="http://schemas.microsoft.com/office/drawing/2014/main" val="10002"/>
                  </a:ext>
                </a:extLst>
              </a:tr>
              <a:tr h="578493">
                <a:tc>
                  <a:txBody>
                    <a:bodyPr/>
                    <a:lstStyle/>
                    <a:p>
                      <a:pPr algn="ctr"/>
                      <a:r>
                        <a:rPr sz="1600">
                          <a:latin typeface="Calibri" panose="020F0502020204030204" pitchFamily="34" charset="0"/>
                          <a:cs typeface="Calibri" panose="020F0502020204030204" pitchFamily="34" charset="0"/>
                        </a:rPr>
                        <a:t>Customer Engagement</a:t>
                      </a:r>
                    </a:p>
                  </a:txBody>
                  <a:tcPr>
                    <a:solidFill>
                      <a:srgbClr val="D0D8E8"/>
                    </a:solidFill>
                  </a:tcPr>
                </a:tc>
                <a:tc>
                  <a:txBody>
                    <a:bodyPr/>
                    <a:lstStyle/>
                    <a:p>
                      <a:pPr algn="ctr"/>
                      <a:r>
                        <a:rPr sz="1600" dirty="0">
                          <a:latin typeface="Calibri" panose="020F0502020204030204" pitchFamily="34" charset="0"/>
                          <a:cs typeface="Calibri" panose="020F0502020204030204" pitchFamily="34" charset="0"/>
                        </a:rPr>
                        <a:t>Loyalty Sales %</a:t>
                      </a:r>
                    </a:p>
                  </a:txBody>
                  <a:tcPr>
                    <a:solidFill>
                      <a:srgbClr val="D0D8E8"/>
                    </a:solidFill>
                  </a:tcPr>
                </a:tc>
                <a:tc>
                  <a:txBody>
                    <a:bodyPr/>
                    <a:lstStyle/>
                    <a:p>
                      <a:pPr algn="ctr"/>
                      <a:r>
                        <a:rPr sz="1600" dirty="0">
                          <a:latin typeface="Calibri" panose="020F0502020204030204" pitchFamily="34" charset="0"/>
                          <a:cs typeface="Calibri" panose="020F0502020204030204" pitchFamily="34" charset="0"/>
                        </a:rPr>
                        <a:t>Measure retention</a:t>
                      </a:r>
                    </a:p>
                  </a:txBody>
                  <a:tcPr>
                    <a:solidFill>
                      <a:srgbClr val="D0D8E8"/>
                    </a:solidFill>
                  </a:tcPr>
                </a:tc>
                <a:extLst>
                  <a:ext uri="{0D108BD9-81ED-4DB2-BD59-A6C34878D82A}">
                    <a16:rowId xmlns:a16="http://schemas.microsoft.com/office/drawing/2014/main" val="10003"/>
                  </a:ext>
                </a:extLst>
              </a:tr>
              <a:tr h="578493">
                <a:tc>
                  <a:txBody>
                    <a:bodyPr/>
                    <a:lstStyle/>
                    <a:p>
                      <a:pPr algn="ctr"/>
                      <a:r>
                        <a:rPr sz="1600">
                          <a:latin typeface="Calibri" panose="020F0502020204030204" pitchFamily="34" charset="0"/>
                          <a:cs typeface="Calibri" panose="020F0502020204030204" pitchFamily="34" charset="0"/>
                        </a:rPr>
                        <a:t>Product Performance</a:t>
                      </a:r>
                    </a:p>
                  </a:txBody>
                  <a:tcPr>
                    <a:solidFill>
                      <a:srgbClr val="E9EDF4"/>
                    </a:solidFill>
                  </a:tcPr>
                </a:tc>
                <a:tc>
                  <a:txBody>
                    <a:bodyPr/>
                    <a:lstStyle/>
                    <a:p>
                      <a:pPr algn="ctr"/>
                      <a:r>
                        <a:rPr sz="1600" dirty="0">
                          <a:latin typeface="Calibri" panose="020F0502020204030204" pitchFamily="34" charset="0"/>
                          <a:cs typeface="Calibri" panose="020F0502020204030204" pitchFamily="34" charset="0"/>
                        </a:rPr>
                        <a:t>Top Products</a:t>
                      </a:r>
                    </a:p>
                  </a:txBody>
                  <a:tcPr>
                    <a:solidFill>
                      <a:srgbClr val="E9EDF4"/>
                    </a:solidFill>
                  </a:tcPr>
                </a:tc>
                <a:tc>
                  <a:txBody>
                    <a:bodyPr/>
                    <a:lstStyle/>
                    <a:p>
                      <a:pPr algn="ctr"/>
                      <a:r>
                        <a:rPr sz="1600" dirty="0">
                          <a:latin typeface="Calibri" panose="020F0502020204030204" pitchFamily="34" charset="0"/>
                          <a:cs typeface="Calibri" panose="020F0502020204030204" pitchFamily="34" charset="0"/>
                        </a:rPr>
                        <a:t>Identify best sellers</a:t>
                      </a:r>
                    </a:p>
                  </a:txBody>
                  <a:tcPr>
                    <a:solidFill>
                      <a:srgbClr val="E9EDF4"/>
                    </a:solidFill>
                  </a:tcPr>
                </a:tc>
                <a:extLst>
                  <a:ext uri="{0D108BD9-81ED-4DB2-BD59-A6C34878D82A}">
                    <a16:rowId xmlns:a16="http://schemas.microsoft.com/office/drawing/2014/main" val="10004"/>
                  </a:ext>
                </a:extLst>
              </a:tr>
              <a:tr h="578493">
                <a:tc>
                  <a:txBody>
                    <a:bodyPr/>
                    <a:lstStyle/>
                    <a:p>
                      <a:pPr algn="ctr"/>
                      <a:r>
                        <a:rPr sz="1600">
                          <a:latin typeface="Calibri" panose="020F0502020204030204" pitchFamily="34" charset="0"/>
                          <a:cs typeface="Calibri" panose="020F0502020204030204" pitchFamily="34" charset="0"/>
                        </a:rPr>
                        <a:t>Store Efficiency</a:t>
                      </a:r>
                    </a:p>
                  </a:txBody>
                  <a:tcPr>
                    <a:solidFill>
                      <a:srgbClr val="D0D8E8"/>
                    </a:solidFill>
                  </a:tcPr>
                </a:tc>
                <a:tc>
                  <a:txBody>
                    <a:bodyPr/>
                    <a:lstStyle/>
                    <a:p>
                      <a:pPr algn="ctr"/>
                      <a:r>
                        <a:rPr sz="1600">
                          <a:latin typeface="Calibri" panose="020F0502020204030204" pitchFamily="34" charset="0"/>
                          <a:cs typeface="Calibri" panose="020F0502020204030204" pitchFamily="34" charset="0"/>
                        </a:rPr>
                        <a:t>Revenue per Store</a:t>
                      </a:r>
                    </a:p>
                  </a:txBody>
                  <a:tcPr>
                    <a:solidFill>
                      <a:srgbClr val="D0D8E8"/>
                    </a:solidFill>
                  </a:tcPr>
                </a:tc>
                <a:tc>
                  <a:txBody>
                    <a:bodyPr/>
                    <a:lstStyle/>
                    <a:p>
                      <a:pPr algn="ctr"/>
                      <a:r>
                        <a:rPr sz="1600" dirty="0">
                          <a:latin typeface="Calibri" panose="020F0502020204030204" pitchFamily="34" charset="0"/>
                          <a:cs typeface="Calibri" panose="020F0502020204030204" pitchFamily="34" charset="0"/>
                        </a:rPr>
                        <a:t>Compare locations</a:t>
                      </a:r>
                    </a:p>
                  </a:txBody>
                  <a:tcPr>
                    <a:solidFill>
                      <a:srgbClr val="D0D8E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81347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Descriptive Analysis – Key Insights</a:t>
            </a:r>
          </a:p>
        </p:txBody>
      </p:sp>
      <p:sp>
        <p:nvSpPr>
          <p:cNvPr id="5" name="TextBox 4">
            <a:extLst>
              <a:ext uri="{FF2B5EF4-FFF2-40B4-BE49-F238E27FC236}">
                <a16:creationId xmlns:a16="http://schemas.microsoft.com/office/drawing/2014/main" id="{2EC5B9C3-758A-52D0-A260-87C89CA739A0}"/>
              </a:ext>
            </a:extLst>
          </p:cNvPr>
          <p:cNvSpPr txBox="1"/>
          <p:nvPr/>
        </p:nvSpPr>
        <p:spPr>
          <a:xfrm>
            <a:off x="381800" y="1171251"/>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Descriptive analysis was conducted to summarize historical business performance using key metrics and visualizations. The analysis highlights overall revenue, profit, sales distribution, customer behaviour, and top-performing products and stores.</a:t>
            </a:r>
            <a:endParaRPr lang="en-IN" dirty="0">
              <a:latin typeface="Calibri" panose="020F0502020204030204" pitchFamily="34" charset="0"/>
              <a:cs typeface="Calibri" panose="020F0502020204030204" pitchFamily="34" charset="0"/>
            </a:endParaRPr>
          </a:p>
        </p:txBody>
      </p:sp>
      <p:sp>
        <p:nvSpPr>
          <p:cNvPr id="8" name="Content Placeholder 2">
            <a:extLst>
              <a:ext uri="{FF2B5EF4-FFF2-40B4-BE49-F238E27FC236}">
                <a16:creationId xmlns:a16="http://schemas.microsoft.com/office/drawing/2014/main" id="{4E25E4F0-89F9-BFCF-22CC-504F94FA878D}"/>
              </a:ext>
            </a:extLst>
          </p:cNvPr>
          <p:cNvSpPr txBox="1">
            <a:spLocks/>
          </p:cNvSpPr>
          <p:nvPr/>
        </p:nvSpPr>
        <p:spPr>
          <a:xfrm>
            <a:off x="381800" y="2256504"/>
            <a:ext cx="8229600" cy="37903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Total Revenue: 25.49M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Total Profit: 10.19M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Profit Margin maintained around 40%.</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Praline category revenue : Recorded the highest revenue of 6.66 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Dark Chocolate 50% has the highest revenue of 1.77 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Praline category profit : Achieved the highest profit of 2.66 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Dark Chocolate 50% has the highest profit of 0.70 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Revenue by Gender : </a:t>
            </a:r>
          </a:p>
          <a:p>
            <a:pPr>
              <a:defRPr sz="1800"/>
            </a:pPr>
            <a:r>
              <a:rPr lang="en-GB" sz="1800" kern="0" dirty="0">
                <a:latin typeface="Calibri" panose="020F0502020204030204" pitchFamily="34" charset="0"/>
                <a:cs typeface="Calibri" panose="020F0502020204030204" pitchFamily="34" charset="0"/>
              </a:rPr>
              <a:t>	Male : 12.85 M </a:t>
            </a:r>
          </a:p>
          <a:p>
            <a:pPr>
              <a:defRPr sz="1800"/>
            </a:pPr>
            <a:r>
              <a:rPr lang="en-GB" sz="1800" kern="0" dirty="0">
                <a:latin typeface="Calibri" panose="020F0502020204030204" pitchFamily="34" charset="0"/>
                <a:cs typeface="Calibri" panose="020F0502020204030204" pitchFamily="34" charset="0"/>
              </a:rPr>
              <a:t>	Female : 12.63 M</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Monthly revenue trends : </a:t>
            </a:r>
          </a:p>
          <a:p>
            <a:pPr>
              <a:defRPr sz="1800"/>
            </a:pPr>
            <a:r>
              <a:rPr lang="en-GB" sz="1800" kern="0" dirty="0">
                <a:latin typeface="Calibri" panose="020F0502020204030204" pitchFamily="34" charset="0"/>
                <a:cs typeface="Calibri" panose="020F0502020204030204" pitchFamily="34" charset="0"/>
              </a:rPr>
              <a:t>	Highest revenue in Jan 2023</a:t>
            </a:r>
          </a:p>
          <a:p>
            <a:pPr>
              <a:defRPr sz="1800"/>
            </a:pPr>
            <a:r>
              <a:rPr lang="en-GB" sz="1800" kern="0" dirty="0">
                <a:latin typeface="Calibri" panose="020F0502020204030204" pitchFamily="34" charset="0"/>
                <a:cs typeface="Calibri" panose="020F0502020204030204" pitchFamily="34" charset="0"/>
              </a:rPr>
              <a:t>	Lowest revenue in Feb 2023.</a:t>
            </a:r>
          </a:p>
        </p:txBody>
      </p:sp>
    </p:spTree>
    <p:extLst>
      <p:ext uri="{BB962C8B-B14F-4D97-AF65-F5344CB8AC3E}">
        <p14:creationId xmlns:p14="http://schemas.microsoft.com/office/powerpoint/2010/main" val="2340864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Diagnostic Analysis</a:t>
            </a:r>
          </a:p>
        </p:txBody>
      </p:sp>
      <p:sp>
        <p:nvSpPr>
          <p:cNvPr id="5" name="TextBox 4">
            <a:extLst>
              <a:ext uri="{FF2B5EF4-FFF2-40B4-BE49-F238E27FC236}">
                <a16:creationId xmlns:a16="http://schemas.microsoft.com/office/drawing/2014/main" id="{6661B9BD-43A0-A731-B706-2FF6AF8790C4}"/>
              </a:ext>
            </a:extLst>
          </p:cNvPr>
          <p:cNvSpPr txBox="1"/>
          <p:nvPr/>
        </p:nvSpPr>
        <p:spPr>
          <a:xfrm>
            <a:off x="381800" y="1180237"/>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Diagnostic analysis was performed to identify the root causes behind business performance trends. This analysis helps understand why certain products, stores, or customer segments perform better by examining profitability, discounts, customer loyalty, and seasonal sales patterns.</a:t>
            </a:r>
            <a:endParaRPr lang="en-IN" dirty="0">
              <a:latin typeface="Calibri" panose="020F0502020204030204" pitchFamily="34" charset="0"/>
              <a:cs typeface="Calibri" panose="020F0502020204030204" pitchFamily="34" charset="0"/>
            </a:endParaRPr>
          </a:p>
        </p:txBody>
      </p:sp>
      <p:graphicFrame>
        <p:nvGraphicFramePr>
          <p:cNvPr id="6" name="Chart 5">
            <a:extLst>
              <a:ext uri="{FF2B5EF4-FFF2-40B4-BE49-F238E27FC236}">
                <a16:creationId xmlns:a16="http://schemas.microsoft.com/office/drawing/2014/main" id="{822037ED-42C3-699C-EA5E-342C495C555B}"/>
              </a:ext>
            </a:extLst>
          </p:cNvPr>
          <p:cNvGraphicFramePr/>
          <p:nvPr>
            <p:extLst>
              <p:ext uri="{D42A27DB-BD31-4B8C-83A1-F6EECF244321}">
                <p14:modId xmlns:p14="http://schemas.microsoft.com/office/powerpoint/2010/main" val="1779831316"/>
              </p:ext>
            </p:extLst>
          </p:nvPr>
        </p:nvGraphicFramePr>
        <p:xfrm>
          <a:off x="381800" y="2443147"/>
          <a:ext cx="3334793" cy="366268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942900FC-BD4F-35D2-2378-747DC95349B7}"/>
              </a:ext>
            </a:extLst>
          </p:cNvPr>
          <p:cNvGraphicFramePr/>
          <p:nvPr>
            <p:extLst>
              <p:ext uri="{D42A27DB-BD31-4B8C-83A1-F6EECF244321}">
                <p14:modId xmlns:p14="http://schemas.microsoft.com/office/powerpoint/2010/main" val="1223822262"/>
              </p:ext>
            </p:extLst>
          </p:nvPr>
        </p:nvGraphicFramePr>
        <p:xfrm>
          <a:off x="4428602" y="2443146"/>
          <a:ext cx="3334793" cy="36626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027DB92F-953F-16F9-10F7-FF0B42DBA419}"/>
              </a:ext>
            </a:extLst>
          </p:cNvPr>
          <p:cNvGraphicFramePr/>
          <p:nvPr>
            <p:extLst>
              <p:ext uri="{D42A27DB-BD31-4B8C-83A1-F6EECF244321}">
                <p14:modId xmlns:p14="http://schemas.microsoft.com/office/powerpoint/2010/main" val="1213955514"/>
              </p:ext>
            </p:extLst>
          </p:nvPr>
        </p:nvGraphicFramePr>
        <p:xfrm>
          <a:off x="8475405" y="2443146"/>
          <a:ext cx="3334793" cy="366268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8571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Predictive Analysis</a:t>
            </a:r>
          </a:p>
        </p:txBody>
      </p:sp>
      <p:sp>
        <p:nvSpPr>
          <p:cNvPr id="4" name="Content Placeholder 2">
            <a:extLst>
              <a:ext uri="{FF2B5EF4-FFF2-40B4-BE49-F238E27FC236}">
                <a16:creationId xmlns:a16="http://schemas.microsoft.com/office/drawing/2014/main" id="{D2B19668-93E5-F86B-768C-72AB8F944BB1}"/>
              </a:ext>
            </a:extLst>
          </p:cNvPr>
          <p:cNvSpPr txBox="1">
            <a:spLocks/>
          </p:cNvSpPr>
          <p:nvPr/>
        </p:nvSpPr>
        <p:spPr>
          <a:xfrm>
            <a:off x="381799" y="2336686"/>
            <a:ext cx="8229600" cy="127418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Time-series forecasting was applied using historical sales trends.</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Revenue expected to grow in upcoming quarters.</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Seasonal peaks predicted during festive periods.</a:t>
            </a:r>
          </a:p>
          <a:p>
            <a:pPr marL="285750" indent="-285750">
              <a:buFont typeface="Wingdings" panose="05000000000000000000" pitchFamily="2" charset="2"/>
              <a:buChar char="v"/>
              <a:defRPr sz="1800"/>
            </a:pPr>
            <a:r>
              <a:rPr lang="en-GB" sz="1800" kern="0" dirty="0">
                <a:latin typeface="Calibri" panose="020F0502020204030204" pitchFamily="34" charset="0"/>
                <a:cs typeface="Calibri" panose="020F0502020204030204" pitchFamily="34" charset="0"/>
              </a:rPr>
              <a:t> Forecasting supports inventory and supply planning.</a:t>
            </a:r>
          </a:p>
        </p:txBody>
      </p:sp>
      <p:sp>
        <p:nvSpPr>
          <p:cNvPr id="7" name="TextBox 6">
            <a:extLst>
              <a:ext uri="{FF2B5EF4-FFF2-40B4-BE49-F238E27FC236}">
                <a16:creationId xmlns:a16="http://schemas.microsoft.com/office/drawing/2014/main" id="{E933ACE5-B412-80F7-E989-06E15AF35F92}"/>
              </a:ext>
            </a:extLst>
          </p:cNvPr>
          <p:cNvSpPr txBox="1"/>
          <p:nvPr/>
        </p:nvSpPr>
        <p:spPr>
          <a:xfrm>
            <a:off x="381799" y="1127007"/>
            <a:ext cx="11428399"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Predictive analysis uses historical sales data and forecasting techniques to estimate future business performance. This section helps predict future revenue trends, seasonal demand patterns, and potential business opportunities for proactive planning and decision-making.</a:t>
            </a:r>
            <a:endParaRPr lang="en-IN"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09199BA-6252-FA2A-AD9F-363078E9F7C7}"/>
              </a:ext>
            </a:extLst>
          </p:cNvPr>
          <p:cNvPicPr>
            <a:picLocks noChangeAspect="1"/>
          </p:cNvPicPr>
          <p:nvPr/>
        </p:nvPicPr>
        <p:blipFill>
          <a:blip r:embed="rId2"/>
          <a:stretch>
            <a:fillRect/>
          </a:stretch>
        </p:blipFill>
        <p:spPr>
          <a:xfrm>
            <a:off x="381799" y="3790335"/>
            <a:ext cx="11428399" cy="2171566"/>
          </a:xfrm>
          <a:prstGeom prst="rect">
            <a:avLst/>
          </a:prstGeom>
        </p:spPr>
      </p:pic>
    </p:spTree>
    <p:extLst>
      <p:ext uri="{BB962C8B-B14F-4D97-AF65-F5344CB8AC3E}">
        <p14:creationId xmlns:p14="http://schemas.microsoft.com/office/powerpoint/2010/main" val="2530223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Dashboard 1 – Key Insights</a:t>
            </a:r>
          </a:p>
        </p:txBody>
      </p:sp>
      <p:sp>
        <p:nvSpPr>
          <p:cNvPr id="7" name="TextBox 6">
            <a:extLst>
              <a:ext uri="{FF2B5EF4-FFF2-40B4-BE49-F238E27FC236}">
                <a16:creationId xmlns:a16="http://schemas.microsoft.com/office/drawing/2014/main" id="{C2516D0E-6D67-F4A8-3461-951A8DAA00C9}"/>
              </a:ext>
            </a:extLst>
          </p:cNvPr>
          <p:cNvSpPr txBox="1"/>
          <p:nvPr/>
        </p:nvSpPr>
        <p:spPr>
          <a:xfrm>
            <a:off x="381799" y="1355237"/>
            <a:ext cx="11428399"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This dashboard provides a high-level overview of overall chocolate sales performance across different months, product categories, store types, and countries. It helps management monitor key business KPIs such as Total Revenue, Total Profit, Profit Margin, and Total Orders while identifying top-performing categories and profitable store segments.</a:t>
            </a:r>
            <a:endParaRPr lang="en-IN" dirty="0">
              <a:latin typeface="Calibri" panose="020F0502020204030204" pitchFamily="34" charset="0"/>
              <a:cs typeface="Calibri" panose="020F0502020204030204" pitchFamily="34" charset="0"/>
            </a:endParaRPr>
          </a:p>
        </p:txBody>
      </p:sp>
      <p:sp>
        <p:nvSpPr>
          <p:cNvPr id="8" name="Rectangle 1">
            <a:extLst>
              <a:ext uri="{FF2B5EF4-FFF2-40B4-BE49-F238E27FC236}">
                <a16:creationId xmlns:a16="http://schemas.microsoft.com/office/drawing/2014/main" id="{B0DDFE9C-492E-CEB5-801F-6E574529EBE3}"/>
              </a:ext>
            </a:extLst>
          </p:cNvPr>
          <p:cNvSpPr>
            <a:spLocks noChangeArrowheads="1"/>
          </p:cNvSpPr>
          <p:nvPr/>
        </p:nvSpPr>
        <p:spPr bwMode="auto">
          <a:xfrm>
            <a:off x="381799" y="2793146"/>
            <a:ext cx="111940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Calibri" panose="020F0502020204030204" pitchFamily="34" charset="0"/>
                <a:cs typeface="Calibri" panose="020F0502020204030204" pitchFamily="34"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Total revenue exceeded </a:t>
            </a:r>
            <a:r>
              <a:rPr kumimoji="0" lang="en-US" altLang="en-U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25.49M</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generating a total profit of </a:t>
            </a:r>
            <a:r>
              <a:rPr kumimoji="0" lang="en-US" altLang="en-U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10.19M</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Airport stores delivered the highest profitability among all store types.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Praline and White Chocolate categories generated the highest revenue contribution.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Canada and the UK showed stronger profitability compared to other countries.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Monthly revenue trends remained stable with slight seasonal fluctuations. </a:t>
            </a:r>
          </a:p>
        </p:txBody>
      </p:sp>
    </p:spTree>
    <p:extLst>
      <p:ext uri="{BB962C8B-B14F-4D97-AF65-F5344CB8AC3E}">
        <p14:creationId xmlns:p14="http://schemas.microsoft.com/office/powerpoint/2010/main" val="1110831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Dashboard 1 – Key Insights</a:t>
            </a:r>
          </a:p>
        </p:txBody>
      </p:sp>
      <p:pic>
        <p:nvPicPr>
          <p:cNvPr id="5" name="Picture 4">
            <a:extLst>
              <a:ext uri="{FF2B5EF4-FFF2-40B4-BE49-F238E27FC236}">
                <a16:creationId xmlns:a16="http://schemas.microsoft.com/office/drawing/2014/main" id="{C9AF0658-C29F-6FE8-F9C6-759099A6D0B2}"/>
              </a:ext>
            </a:extLst>
          </p:cNvPr>
          <p:cNvPicPr>
            <a:picLocks noChangeAspect="1"/>
          </p:cNvPicPr>
          <p:nvPr/>
        </p:nvPicPr>
        <p:blipFill>
          <a:blip r:embed="rId2"/>
          <a:stretch>
            <a:fillRect/>
          </a:stretch>
        </p:blipFill>
        <p:spPr>
          <a:xfrm>
            <a:off x="381801" y="1224480"/>
            <a:ext cx="11428398" cy="4851855"/>
          </a:xfrm>
          <a:prstGeom prst="rect">
            <a:avLst/>
          </a:prstGeom>
        </p:spPr>
      </p:pic>
    </p:spTree>
    <p:extLst>
      <p:ext uri="{BB962C8B-B14F-4D97-AF65-F5344CB8AC3E}">
        <p14:creationId xmlns:p14="http://schemas.microsoft.com/office/powerpoint/2010/main" val="11684361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Dashboard 2 – Key Insights</a:t>
            </a:r>
          </a:p>
        </p:txBody>
      </p:sp>
      <p:sp>
        <p:nvSpPr>
          <p:cNvPr id="5" name="TextBox 4">
            <a:extLst>
              <a:ext uri="{FF2B5EF4-FFF2-40B4-BE49-F238E27FC236}">
                <a16:creationId xmlns:a16="http://schemas.microsoft.com/office/drawing/2014/main" id="{AC7A93BC-EA34-76E6-F08A-52227C2C3128}"/>
              </a:ext>
            </a:extLst>
          </p:cNvPr>
          <p:cNvSpPr txBox="1"/>
          <p:nvPr/>
        </p:nvSpPr>
        <p:spPr>
          <a:xfrm>
            <a:off x="381800" y="1401462"/>
            <a:ext cx="11428398"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This dashboard focuses on customer behaviour, product performance, and brand-level analysis. It provides insights into loyalty membership contribution, customer demographics, age-group purchasing behaviour, and product profitability to support customer segmentation and targeted marketing strategies.</a:t>
            </a:r>
            <a:endParaRPr lang="en-IN" dirty="0">
              <a:latin typeface="Calibri" panose="020F0502020204030204" pitchFamily="34" charset="0"/>
              <a:cs typeface="Calibri" panose="020F0502020204030204" pitchFamily="34" charset="0"/>
            </a:endParaRPr>
          </a:p>
        </p:txBody>
      </p:sp>
      <p:sp>
        <p:nvSpPr>
          <p:cNvPr id="6" name="Rectangle 1">
            <a:extLst>
              <a:ext uri="{FF2B5EF4-FFF2-40B4-BE49-F238E27FC236}">
                <a16:creationId xmlns:a16="http://schemas.microsoft.com/office/drawing/2014/main" id="{FDFED4C9-3AE4-A4BD-3577-057404300B3E}"/>
              </a:ext>
            </a:extLst>
          </p:cNvPr>
          <p:cNvSpPr>
            <a:spLocks noChangeArrowheads="1"/>
          </p:cNvSpPr>
          <p:nvPr/>
        </p:nvSpPr>
        <p:spPr bwMode="auto">
          <a:xfrm rot="10800000" flipV="1">
            <a:off x="381800" y="2640384"/>
            <a:ext cx="1182494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Key Insights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Loyalty and non-loyalty customers contributed almost equally to overall revenue.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Male and female customer purchasing behavior remained balanced.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Customers aged </a:t>
            </a:r>
            <a:r>
              <a:rPr kumimoji="0" lang="en-US" altLang="en-US" sz="1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56+</a:t>
            </a: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generated the highest revenue contribution.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Ferrero and Cadbury emerged as the leading revenue-generating brands.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Dark Chocolate 50% delivered the highest revenue and profit among all products. </a:t>
            </a:r>
          </a:p>
        </p:txBody>
      </p:sp>
    </p:spTree>
    <p:extLst>
      <p:ext uri="{BB962C8B-B14F-4D97-AF65-F5344CB8AC3E}">
        <p14:creationId xmlns:p14="http://schemas.microsoft.com/office/powerpoint/2010/main" val="87587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Dashboard 2 – Key Insights</a:t>
            </a:r>
          </a:p>
        </p:txBody>
      </p:sp>
      <p:pic>
        <p:nvPicPr>
          <p:cNvPr id="4" name="Picture 3">
            <a:extLst>
              <a:ext uri="{FF2B5EF4-FFF2-40B4-BE49-F238E27FC236}">
                <a16:creationId xmlns:a16="http://schemas.microsoft.com/office/drawing/2014/main" id="{9DE72D39-61C2-772D-3A6E-23AAC51E8821}"/>
              </a:ext>
            </a:extLst>
          </p:cNvPr>
          <p:cNvPicPr>
            <a:picLocks noChangeAspect="1"/>
          </p:cNvPicPr>
          <p:nvPr/>
        </p:nvPicPr>
        <p:blipFill>
          <a:blip r:embed="rId2"/>
          <a:stretch>
            <a:fillRect/>
          </a:stretch>
        </p:blipFill>
        <p:spPr>
          <a:xfrm>
            <a:off x="381800" y="1189396"/>
            <a:ext cx="11428399" cy="4901688"/>
          </a:xfrm>
          <a:prstGeom prst="rect">
            <a:avLst/>
          </a:prstGeom>
        </p:spPr>
      </p:pic>
    </p:spTree>
    <p:extLst>
      <p:ext uri="{BB962C8B-B14F-4D97-AF65-F5344CB8AC3E}">
        <p14:creationId xmlns:p14="http://schemas.microsoft.com/office/powerpoint/2010/main" val="2812051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Dashboard 3 – Key Insights</a:t>
            </a:r>
          </a:p>
        </p:txBody>
      </p:sp>
      <p:sp>
        <p:nvSpPr>
          <p:cNvPr id="6" name="TextBox 5">
            <a:extLst>
              <a:ext uri="{FF2B5EF4-FFF2-40B4-BE49-F238E27FC236}">
                <a16:creationId xmlns:a16="http://schemas.microsoft.com/office/drawing/2014/main" id="{87917DF1-42BF-3502-B2B3-0EE6D0CE767D}"/>
              </a:ext>
            </a:extLst>
          </p:cNvPr>
          <p:cNvSpPr txBox="1"/>
          <p:nvPr/>
        </p:nvSpPr>
        <p:spPr>
          <a:xfrm>
            <a:off x="381799" y="1268727"/>
            <a:ext cx="11428399" cy="923330"/>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This dashboard provides detailed operational and profitability analysis by evaluating monthly profit trends, discount impact, store-level revenue performance, and top-performing products. It helps identify operational strengths, profitability drivers, and areas requiring performance improvement.</a:t>
            </a:r>
            <a:endParaRPr lang="en-IN" dirty="0">
              <a:latin typeface="Calibri" panose="020F0502020204030204" pitchFamily="34" charset="0"/>
              <a:cs typeface="Calibri" panose="020F0502020204030204" pitchFamily="34" charset="0"/>
            </a:endParaRPr>
          </a:p>
        </p:txBody>
      </p:sp>
      <p:sp>
        <p:nvSpPr>
          <p:cNvPr id="7" name="Rectangle 1">
            <a:extLst>
              <a:ext uri="{FF2B5EF4-FFF2-40B4-BE49-F238E27FC236}">
                <a16:creationId xmlns:a16="http://schemas.microsoft.com/office/drawing/2014/main" id="{7B0836C0-10A4-C2A0-2B19-4388E53DC5E0}"/>
              </a:ext>
            </a:extLst>
          </p:cNvPr>
          <p:cNvSpPr>
            <a:spLocks noChangeArrowheads="1"/>
          </p:cNvSpPr>
          <p:nvPr/>
        </p:nvSpPr>
        <p:spPr bwMode="auto">
          <a:xfrm>
            <a:off x="381799" y="3080857"/>
            <a:ext cx="1067783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Calibri" panose="020F0502020204030204" pitchFamily="34" charset="0"/>
                <a:cs typeface="Calibri" panose="020F0502020204030204" pitchFamily="34" charset="0"/>
              </a:rPr>
              <a:t>Key Insights</a:t>
            </a: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Profit trends remained stable throughout the year with peak performance during mid-year months.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Higher discounts negatively impacted overall profitability.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Certain stores consistently generated higher revenue compared to others.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Premium chocolate products contributed significantly to total revenue.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 Operational performance varied across store locations, indicating opportunities for targeted improvement. </a:t>
            </a:r>
          </a:p>
        </p:txBody>
      </p:sp>
    </p:spTree>
    <p:extLst>
      <p:ext uri="{BB962C8B-B14F-4D97-AF65-F5344CB8AC3E}">
        <p14:creationId xmlns:p14="http://schemas.microsoft.com/office/powerpoint/2010/main" val="1806583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Dashboard 3 – Key Insights</a:t>
            </a:r>
          </a:p>
        </p:txBody>
      </p:sp>
      <p:pic>
        <p:nvPicPr>
          <p:cNvPr id="4" name="Picture 3">
            <a:extLst>
              <a:ext uri="{FF2B5EF4-FFF2-40B4-BE49-F238E27FC236}">
                <a16:creationId xmlns:a16="http://schemas.microsoft.com/office/drawing/2014/main" id="{D81C331C-27AD-C6E9-99A7-41B4F33E0C9B}"/>
              </a:ext>
            </a:extLst>
          </p:cNvPr>
          <p:cNvPicPr>
            <a:picLocks noChangeAspect="1"/>
          </p:cNvPicPr>
          <p:nvPr/>
        </p:nvPicPr>
        <p:blipFill>
          <a:blip r:embed="rId2"/>
          <a:stretch>
            <a:fillRect/>
          </a:stretch>
        </p:blipFill>
        <p:spPr>
          <a:xfrm>
            <a:off x="381800" y="1061423"/>
            <a:ext cx="11428399" cy="5044409"/>
          </a:xfrm>
          <a:prstGeom prst="rect">
            <a:avLst/>
          </a:prstGeom>
        </p:spPr>
      </p:pic>
    </p:spTree>
    <p:extLst>
      <p:ext uri="{BB962C8B-B14F-4D97-AF65-F5344CB8AC3E}">
        <p14:creationId xmlns:p14="http://schemas.microsoft.com/office/powerpoint/2010/main" val="2792060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06B91-4610-90D0-B551-86A4DB9463AC}"/>
              </a:ext>
            </a:extLst>
          </p:cNvPr>
          <p:cNvSpPr>
            <a:spLocks noGrp="1"/>
          </p:cNvSpPr>
          <p:nvPr>
            <p:ph type="title"/>
          </p:nvPr>
        </p:nvSpPr>
        <p:spPr>
          <a:xfrm>
            <a:off x="381800" y="219103"/>
            <a:ext cx="11428399" cy="621555"/>
          </a:xfrm>
          <a:solidFill>
            <a:srgbClr val="348E90"/>
          </a:solidFill>
        </p:spPr>
        <p:txBody>
          <a:bodyPr>
            <a:normAutofit fontScale="90000"/>
          </a:bodyPr>
          <a:lstStyle/>
          <a:p>
            <a:r>
              <a:rPr lang="en-IN" dirty="0">
                <a:solidFill>
                  <a:schemeClr val="bg1"/>
                </a:solidFill>
                <a:latin typeface="Calibri" panose="020F0502020204030204" pitchFamily="34" charset="0"/>
                <a:cs typeface="Calibri" panose="020F0502020204030204" pitchFamily="34" charset="0"/>
              </a:rPr>
              <a:t>Strategic Recommendations</a:t>
            </a:r>
          </a:p>
        </p:txBody>
      </p:sp>
      <p:sp>
        <p:nvSpPr>
          <p:cNvPr id="4" name="TextBox 3">
            <a:extLst>
              <a:ext uri="{FF2B5EF4-FFF2-40B4-BE49-F238E27FC236}">
                <a16:creationId xmlns:a16="http://schemas.microsoft.com/office/drawing/2014/main" id="{870A02D6-6738-D1D2-FC8F-9A74E9C90BC6}"/>
              </a:ext>
            </a:extLst>
          </p:cNvPr>
          <p:cNvSpPr txBox="1"/>
          <p:nvPr/>
        </p:nvSpPr>
        <p:spPr>
          <a:xfrm>
            <a:off x="381800" y="1124307"/>
            <a:ext cx="11428398" cy="1477328"/>
          </a:xfrm>
          <a:prstGeom prst="rect">
            <a:avLst/>
          </a:prstGeom>
          <a:noFill/>
        </p:spPr>
        <p:txBody>
          <a:bodyPr wrap="square">
            <a:spAutoFit/>
          </a:bodyPr>
          <a:lstStyle/>
          <a:p>
            <a:pPr marL="342900" indent="-342900">
              <a:buAutoNum type="arabicPeriod"/>
            </a:pPr>
            <a:r>
              <a:rPr lang="en-GB" b="1" dirty="0">
                <a:latin typeface="Calibri" panose="020F0502020204030204" pitchFamily="34" charset="0"/>
                <a:cs typeface="Calibri" panose="020F0502020204030204" pitchFamily="34" charset="0"/>
              </a:rPr>
              <a:t>Increase Focus on Premium Chocolate Categories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dashboard analysis shows that </a:t>
            </a:r>
            <a:r>
              <a:rPr lang="en-GB" b="1" dirty="0">
                <a:latin typeface="Calibri" panose="020F0502020204030204" pitchFamily="34" charset="0"/>
                <a:cs typeface="Calibri" panose="020F0502020204030204" pitchFamily="34" charset="0"/>
              </a:rPr>
              <a:t>Praline Chocolate</a:t>
            </a:r>
            <a:r>
              <a:rPr lang="en-GB" dirty="0">
                <a:latin typeface="Calibri" panose="020F0502020204030204" pitchFamily="34" charset="0"/>
                <a:cs typeface="Calibri" panose="020F0502020204030204" pitchFamily="34" charset="0"/>
              </a:rPr>
              <a:t> and </a:t>
            </a:r>
            <a:r>
              <a:rPr lang="en-GB" b="1" dirty="0">
                <a:latin typeface="Calibri" panose="020F0502020204030204" pitchFamily="34" charset="0"/>
                <a:cs typeface="Calibri" panose="020F0502020204030204" pitchFamily="34" charset="0"/>
              </a:rPr>
              <a:t>Dark Chocolate variants</a:t>
            </a:r>
            <a:r>
              <a:rPr lang="en-GB" dirty="0">
                <a:latin typeface="Calibri" panose="020F0502020204030204" pitchFamily="34" charset="0"/>
                <a:cs typeface="Calibri" panose="020F0502020204030204" pitchFamily="34" charset="0"/>
              </a:rPr>
              <a:t> generated the highest revenue contribution, while </a:t>
            </a:r>
            <a:r>
              <a:rPr lang="en-GB" b="1" dirty="0">
                <a:latin typeface="Calibri" panose="020F0502020204030204" pitchFamily="34" charset="0"/>
                <a:cs typeface="Calibri" panose="020F0502020204030204" pitchFamily="34" charset="0"/>
              </a:rPr>
              <a:t>Dark Chocolate 50%</a:t>
            </a:r>
            <a:r>
              <a:rPr lang="en-GB" dirty="0">
                <a:latin typeface="Calibri" panose="020F0502020204030204" pitchFamily="34" charset="0"/>
                <a:cs typeface="Calibri" panose="020F0502020204030204" pitchFamily="34" charset="0"/>
              </a:rPr>
              <a:t> delivered the highest overall profit. The business should increase promotional campaigns, shelf visibility, and premium packaging for these products to maximize profitability.</a:t>
            </a:r>
          </a:p>
        </p:txBody>
      </p:sp>
      <p:sp>
        <p:nvSpPr>
          <p:cNvPr id="7" name="TextBox 6">
            <a:extLst>
              <a:ext uri="{FF2B5EF4-FFF2-40B4-BE49-F238E27FC236}">
                <a16:creationId xmlns:a16="http://schemas.microsoft.com/office/drawing/2014/main" id="{EF25B2C5-D2C3-BA57-026B-A5B3198B8999}"/>
              </a:ext>
            </a:extLst>
          </p:cNvPr>
          <p:cNvSpPr txBox="1"/>
          <p:nvPr/>
        </p:nvSpPr>
        <p:spPr>
          <a:xfrm>
            <a:off x="381800" y="2885284"/>
            <a:ext cx="11428398"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2. Strengthen Airport Store Operations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Among all store types, </a:t>
            </a:r>
            <a:r>
              <a:rPr lang="en-GB" b="1" dirty="0">
                <a:latin typeface="Calibri" panose="020F0502020204030204" pitchFamily="34" charset="0"/>
                <a:cs typeface="Calibri" panose="020F0502020204030204" pitchFamily="34" charset="0"/>
              </a:rPr>
              <a:t>Airport stores generated the highest profit (3.05M)</a:t>
            </a:r>
            <a:r>
              <a:rPr lang="en-GB" dirty="0">
                <a:latin typeface="Calibri" panose="020F0502020204030204" pitchFamily="34" charset="0"/>
                <a:cs typeface="Calibri" panose="020F0502020204030204" pitchFamily="34" charset="0"/>
              </a:rPr>
              <a:t>, outperforming Mall, Online, and Retail stores. This indicates stronger customer spending behaviour in airport locations. The company should prioritize premium inventory, combo offers, and exclusive products in airport stores to further increase profit margins.</a:t>
            </a:r>
          </a:p>
        </p:txBody>
      </p:sp>
      <p:sp>
        <p:nvSpPr>
          <p:cNvPr id="9" name="TextBox 8">
            <a:extLst>
              <a:ext uri="{FF2B5EF4-FFF2-40B4-BE49-F238E27FC236}">
                <a16:creationId xmlns:a16="http://schemas.microsoft.com/office/drawing/2014/main" id="{AADB4BCB-1EB7-B315-2C7F-EE0589FE3F47}"/>
              </a:ext>
            </a:extLst>
          </p:cNvPr>
          <p:cNvSpPr txBox="1"/>
          <p:nvPr/>
        </p:nvSpPr>
        <p:spPr>
          <a:xfrm>
            <a:off x="381800" y="4646261"/>
            <a:ext cx="11428397"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3. Optimize Discount Strategy to Protect Profit Margins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profitability analysis indicates that average profit decreases as discount percentages increase. Orders without discounts generated the highest profit, while 20% discount levels significantly reduced margins. The company should avoid excessive discounting and implement targeted promotional campaigns instead of blanket discounts.</a:t>
            </a:r>
          </a:p>
        </p:txBody>
      </p:sp>
    </p:spTree>
    <p:extLst>
      <p:ext uri="{BB962C8B-B14F-4D97-AF65-F5344CB8AC3E}">
        <p14:creationId xmlns:p14="http://schemas.microsoft.com/office/powerpoint/2010/main" val="1415809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F9BE-BB42-0411-8F25-503E002A63CD}"/>
              </a:ext>
            </a:extLst>
          </p:cNvPr>
          <p:cNvSpPr txBox="1">
            <a:spLocks/>
          </p:cNvSpPr>
          <p:nvPr/>
        </p:nvSpPr>
        <p:spPr>
          <a:xfrm>
            <a:off x="381800" y="219103"/>
            <a:ext cx="11428399" cy="621555"/>
          </a:xfrm>
          <a:prstGeom prst="rect">
            <a:avLst/>
          </a:prstGeom>
          <a:solidFill>
            <a:srgbClr val="348E90"/>
          </a:solidFill>
        </p:spPr>
        <p:txBody>
          <a:bodyPr>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IN" kern="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BD6D8D6-0DDA-FE06-9C27-95DCE8725488}"/>
              </a:ext>
            </a:extLst>
          </p:cNvPr>
          <p:cNvSpPr txBox="1"/>
          <p:nvPr/>
        </p:nvSpPr>
        <p:spPr>
          <a:xfrm>
            <a:off x="381799" y="1079340"/>
            <a:ext cx="11428398"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4. Improve Performance of Retail Stores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Retail stores generated the lowest overall profit compared to other store types. This suggests operational inefficiencies or weaker customer demand in retail locations. The business should improve local marketing campaigns, optimize inventory planning, and introduce customer engagement activities to improve retail store performance.</a:t>
            </a:r>
          </a:p>
        </p:txBody>
      </p:sp>
      <p:sp>
        <p:nvSpPr>
          <p:cNvPr id="8" name="TextBox 7">
            <a:extLst>
              <a:ext uri="{FF2B5EF4-FFF2-40B4-BE49-F238E27FC236}">
                <a16:creationId xmlns:a16="http://schemas.microsoft.com/office/drawing/2014/main" id="{98EC771D-C96A-5B3D-C487-FCA509D54934}"/>
              </a:ext>
            </a:extLst>
          </p:cNvPr>
          <p:cNvSpPr txBox="1"/>
          <p:nvPr/>
        </p:nvSpPr>
        <p:spPr>
          <a:xfrm>
            <a:off x="381798" y="2795350"/>
            <a:ext cx="11428397"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5. Focus on High-Performing Brands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Dashboard insights show that brands such as </a:t>
            </a:r>
            <a:r>
              <a:rPr lang="en-GB" b="1" dirty="0">
                <a:latin typeface="Calibri" panose="020F0502020204030204" pitchFamily="34" charset="0"/>
                <a:cs typeface="Calibri" panose="020F0502020204030204" pitchFamily="34" charset="0"/>
              </a:rPr>
              <a:t>Ferrero</a:t>
            </a:r>
            <a:r>
              <a:rPr lang="en-GB" dirty="0">
                <a:latin typeface="Calibri" panose="020F0502020204030204" pitchFamily="34" charset="0"/>
                <a:cs typeface="Calibri" panose="020F0502020204030204" pitchFamily="34" charset="0"/>
              </a:rPr>
              <a:t>, </a:t>
            </a:r>
            <a:r>
              <a:rPr lang="en-GB" b="1" dirty="0">
                <a:latin typeface="Calibri" panose="020F0502020204030204" pitchFamily="34" charset="0"/>
                <a:cs typeface="Calibri" panose="020F0502020204030204" pitchFamily="34" charset="0"/>
              </a:rPr>
              <a:t>Cadbury</a:t>
            </a:r>
            <a:r>
              <a:rPr lang="en-GB" dirty="0">
                <a:latin typeface="Calibri" panose="020F0502020204030204" pitchFamily="34" charset="0"/>
                <a:cs typeface="Calibri" panose="020F0502020204030204" pitchFamily="34" charset="0"/>
              </a:rPr>
              <a:t>, and </a:t>
            </a:r>
            <a:r>
              <a:rPr lang="en-GB" b="1" dirty="0">
                <a:latin typeface="Calibri" panose="020F0502020204030204" pitchFamily="34" charset="0"/>
                <a:cs typeface="Calibri" panose="020F0502020204030204" pitchFamily="34" charset="0"/>
              </a:rPr>
              <a:t>Lindt</a:t>
            </a:r>
            <a:r>
              <a:rPr lang="en-GB" dirty="0">
                <a:latin typeface="Calibri" panose="020F0502020204030204" pitchFamily="34" charset="0"/>
                <a:cs typeface="Calibri" panose="020F0502020204030204" pitchFamily="34" charset="0"/>
              </a:rPr>
              <a:t> generated stronger revenue contribution compared to other brands. Increasing marketing investment and product availability for these brands can improve overall sales performance and customer satisfaction.</a:t>
            </a:r>
          </a:p>
        </p:txBody>
      </p:sp>
      <p:sp>
        <p:nvSpPr>
          <p:cNvPr id="10" name="TextBox 9">
            <a:extLst>
              <a:ext uri="{FF2B5EF4-FFF2-40B4-BE49-F238E27FC236}">
                <a16:creationId xmlns:a16="http://schemas.microsoft.com/office/drawing/2014/main" id="{B25E12C0-6418-0CD6-8862-DF4E9448ACB4}"/>
              </a:ext>
            </a:extLst>
          </p:cNvPr>
          <p:cNvSpPr txBox="1"/>
          <p:nvPr/>
        </p:nvSpPr>
        <p:spPr>
          <a:xfrm>
            <a:off x="381798" y="4511361"/>
            <a:ext cx="11428396"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6. Target Older Customer Segments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Customer analytics reveal that the </a:t>
            </a:r>
            <a:r>
              <a:rPr lang="en-GB" b="1" dirty="0">
                <a:latin typeface="Calibri" panose="020F0502020204030204" pitchFamily="34" charset="0"/>
                <a:cs typeface="Calibri" panose="020F0502020204030204" pitchFamily="34" charset="0"/>
              </a:rPr>
              <a:t>56+ age group contributed the highest revenue</a:t>
            </a:r>
            <a:r>
              <a:rPr lang="en-GB" dirty="0">
                <a:latin typeface="Calibri" panose="020F0502020204030204" pitchFamily="34" charset="0"/>
                <a:cs typeface="Calibri" panose="020F0502020204030204" pitchFamily="34" charset="0"/>
              </a:rPr>
              <a:t> among all customer segments. The company should develop targeted marketing strategies, premium gift packaging, and loyalty offers specifically designed for mature customers to increase repeat purchases.</a:t>
            </a:r>
          </a:p>
        </p:txBody>
      </p:sp>
    </p:spTree>
    <p:extLst>
      <p:ext uri="{BB962C8B-B14F-4D97-AF65-F5344CB8AC3E}">
        <p14:creationId xmlns:p14="http://schemas.microsoft.com/office/powerpoint/2010/main" val="386329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97AA366-076A-B548-F53C-742E59AF4E43}"/>
              </a:ext>
            </a:extLst>
          </p:cNvPr>
          <p:cNvSpPr txBox="1"/>
          <p:nvPr/>
        </p:nvSpPr>
        <p:spPr>
          <a:xfrm>
            <a:off x="381800" y="1106494"/>
            <a:ext cx="11428398"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7. Expand Loyalty Membership Programs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Revenue contribution from loyalty members was nearly equal to non-loyalty customers, indicating strong engagement potential. Introducing personalized rewards, cashback offers, and member-exclusive promotions can improve customer retention and long-term profitability.</a:t>
            </a:r>
          </a:p>
        </p:txBody>
      </p:sp>
      <p:sp>
        <p:nvSpPr>
          <p:cNvPr id="7" name="Title 1">
            <a:extLst>
              <a:ext uri="{FF2B5EF4-FFF2-40B4-BE49-F238E27FC236}">
                <a16:creationId xmlns:a16="http://schemas.microsoft.com/office/drawing/2014/main" id="{BDDFB993-CFC5-EC0F-61B4-87B235FE9E87}"/>
              </a:ext>
            </a:extLst>
          </p:cNvPr>
          <p:cNvSpPr txBox="1">
            <a:spLocks/>
          </p:cNvSpPr>
          <p:nvPr/>
        </p:nvSpPr>
        <p:spPr>
          <a:xfrm>
            <a:off x="381800" y="219103"/>
            <a:ext cx="11428399" cy="621555"/>
          </a:xfrm>
          <a:prstGeom prst="rect">
            <a:avLst/>
          </a:prstGeom>
          <a:solidFill>
            <a:srgbClr val="348E90"/>
          </a:solidFill>
        </p:spPr>
        <p:txBody>
          <a:bodyPr>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lang="en-IN" kern="0"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CF82EC0C-2BCA-6358-4DE7-5BC3BB3E4FB3}"/>
              </a:ext>
            </a:extLst>
          </p:cNvPr>
          <p:cNvSpPr txBox="1"/>
          <p:nvPr/>
        </p:nvSpPr>
        <p:spPr>
          <a:xfrm>
            <a:off x="381799" y="2849658"/>
            <a:ext cx="11428397"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8. Use Monthly Profit Trends for Inventory Planning</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The monthly profit trend analysis shows seasonal fluctuations across different months. The business should use historical sales trends to forecast demand, optimize stock availability, and prepare inventory before peak sales periods to avoid stock shortages and missed revenue opportunities.</a:t>
            </a:r>
          </a:p>
        </p:txBody>
      </p:sp>
      <p:sp>
        <p:nvSpPr>
          <p:cNvPr id="11" name="TextBox 10">
            <a:extLst>
              <a:ext uri="{FF2B5EF4-FFF2-40B4-BE49-F238E27FC236}">
                <a16:creationId xmlns:a16="http://schemas.microsoft.com/office/drawing/2014/main" id="{8B24DA2E-88BD-FB1C-36BD-48E8CC64C3FE}"/>
              </a:ext>
            </a:extLst>
          </p:cNvPr>
          <p:cNvSpPr txBox="1"/>
          <p:nvPr/>
        </p:nvSpPr>
        <p:spPr>
          <a:xfrm>
            <a:off x="381798" y="4592822"/>
            <a:ext cx="11428397" cy="1477328"/>
          </a:xfrm>
          <a:prstGeom prst="rect">
            <a:avLst/>
          </a:prstGeom>
          <a:noFill/>
        </p:spPr>
        <p:txBody>
          <a:bodyPr wrap="square">
            <a:spAutoFit/>
          </a:bodyPr>
          <a:lstStyle/>
          <a:p>
            <a:r>
              <a:rPr lang="en-GB" b="1" dirty="0">
                <a:latin typeface="Calibri" panose="020F0502020204030204" pitchFamily="34" charset="0"/>
                <a:cs typeface="Calibri" panose="020F0502020204030204" pitchFamily="34" charset="0"/>
              </a:rPr>
              <a:t>9. Focus on High-Revenue Countries</a:t>
            </a:r>
          </a:p>
          <a:p>
            <a:endParaRPr lang="en-GB" b="1"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Country-wise profitability analysis shows that </a:t>
            </a:r>
            <a:r>
              <a:rPr lang="en-GB" b="1" dirty="0">
                <a:latin typeface="Calibri" panose="020F0502020204030204" pitchFamily="34" charset="0"/>
                <a:cs typeface="Calibri" panose="020F0502020204030204" pitchFamily="34" charset="0"/>
              </a:rPr>
              <a:t>Canada</a:t>
            </a:r>
            <a:r>
              <a:rPr lang="en-GB" dirty="0">
                <a:latin typeface="Calibri" panose="020F0502020204030204" pitchFamily="34" charset="0"/>
                <a:cs typeface="Calibri" panose="020F0502020204030204" pitchFamily="34" charset="0"/>
              </a:rPr>
              <a:t> and the </a:t>
            </a:r>
            <a:r>
              <a:rPr lang="en-GB" b="1" dirty="0">
                <a:latin typeface="Calibri" panose="020F0502020204030204" pitchFamily="34" charset="0"/>
                <a:cs typeface="Calibri" panose="020F0502020204030204" pitchFamily="34" charset="0"/>
              </a:rPr>
              <a:t>UK</a:t>
            </a:r>
            <a:r>
              <a:rPr lang="en-GB" dirty="0">
                <a:latin typeface="Calibri" panose="020F0502020204030204" pitchFamily="34" charset="0"/>
                <a:cs typeface="Calibri" panose="020F0502020204030204" pitchFamily="34" charset="0"/>
              </a:rPr>
              <a:t> generated stronger profit contribution compared to other regions. Expanding marketing activities, premium product distribution, and promotional campaigns in these countries can support future business growth.</a:t>
            </a:r>
          </a:p>
        </p:txBody>
      </p:sp>
    </p:spTree>
    <p:extLst>
      <p:ext uri="{BB962C8B-B14F-4D97-AF65-F5344CB8AC3E}">
        <p14:creationId xmlns:p14="http://schemas.microsoft.com/office/powerpoint/2010/main" val="1371720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4" name="Title 1">
            <a:extLst>
              <a:ext uri="{FF2B5EF4-FFF2-40B4-BE49-F238E27FC236}">
                <a16:creationId xmlns:a16="http://schemas.microsoft.com/office/drawing/2014/main" id="{1B0C8C48-E01F-9B7F-42D4-F4B2C1DF4193}"/>
              </a:ext>
            </a:extLst>
          </p:cNvPr>
          <p:cNvSpPr txBox="1">
            <a:spLocks/>
          </p:cNvSpPr>
          <p:nvPr/>
        </p:nvSpPr>
        <p:spPr>
          <a:xfrm>
            <a:off x="381800" y="219103"/>
            <a:ext cx="11428399" cy="621555"/>
          </a:xfrm>
          <a:prstGeom prst="rect">
            <a:avLst/>
          </a:prstGeom>
          <a:solidFill>
            <a:srgbClr val="348E90"/>
          </a:solidFill>
        </p:spPr>
        <p:txBody>
          <a:bodyPr>
            <a:normAutofit fontScale="75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GB" kern="0" dirty="0">
                <a:solidFill>
                  <a:schemeClr val="bg1"/>
                </a:solidFill>
                <a:latin typeface="Calibri" panose="020F0502020204030204" pitchFamily="34" charset="0"/>
                <a:cs typeface="Calibri" panose="020F0502020204030204" pitchFamily="34" charset="0"/>
              </a:rPr>
              <a:t>Executive Summary</a:t>
            </a:r>
            <a:endParaRPr lang="en-IN" kern="0"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BEFAC3D-B0FD-DF23-C8E7-0D4A912C0F16}"/>
              </a:ext>
            </a:extLst>
          </p:cNvPr>
          <p:cNvSpPr txBox="1"/>
          <p:nvPr/>
        </p:nvSpPr>
        <p:spPr>
          <a:xfrm>
            <a:off x="381799" y="1565725"/>
            <a:ext cx="11428398" cy="3139321"/>
          </a:xfrm>
          <a:prstGeom prst="rect">
            <a:avLst/>
          </a:prstGeom>
          <a:noFill/>
        </p:spPr>
        <p:txBody>
          <a:bodyPr wrap="square">
            <a:spAutoFit/>
          </a:bodyPr>
          <a:lstStyle/>
          <a:p>
            <a:r>
              <a:rPr lang="en-GB" dirty="0">
                <a:latin typeface="Calibri" panose="020F0502020204030204" pitchFamily="34" charset="0"/>
                <a:cs typeface="Calibri" panose="020F0502020204030204" pitchFamily="34" charset="0"/>
              </a:rPr>
              <a:t>The Chocolate Sales Analysis project was conducted to evaluate overall business performance, customer purchasing behaviour, product profitability, and operational efficiency using SQL, Python, and Power BI. The analysis was performed on transactional sales data to identify key business trends, revenue drivers, and opportunities for business improvement.</a:t>
            </a:r>
          </a:p>
          <a:p>
            <a:r>
              <a:rPr lang="en-GB" dirty="0">
                <a:latin typeface="Calibri" panose="020F0502020204030204" pitchFamily="34" charset="0"/>
                <a:cs typeface="Calibri" panose="020F0502020204030204" pitchFamily="34" charset="0"/>
              </a:rPr>
              <a:t>The business generated a total revenue of </a:t>
            </a:r>
            <a:r>
              <a:rPr lang="en-GB" b="1" dirty="0">
                <a:latin typeface="Calibri" panose="020F0502020204030204" pitchFamily="34" charset="0"/>
                <a:cs typeface="Calibri" panose="020F0502020204030204" pitchFamily="34" charset="0"/>
              </a:rPr>
              <a:t>25.49M</a:t>
            </a:r>
            <a:r>
              <a:rPr lang="en-GB" dirty="0">
                <a:latin typeface="Calibri" panose="020F0502020204030204" pitchFamily="34" charset="0"/>
                <a:cs typeface="Calibri" panose="020F0502020204030204" pitchFamily="34" charset="0"/>
              </a:rPr>
              <a:t> with an overall profit of </a:t>
            </a:r>
            <a:r>
              <a:rPr lang="en-GB" b="1" dirty="0">
                <a:latin typeface="Calibri" panose="020F0502020204030204" pitchFamily="34" charset="0"/>
                <a:cs typeface="Calibri" panose="020F0502020204030204" pitchFamily="34" charset="0"/>
              </a:rPr>
              <a:t>10.19M</a:t>
            </a:r>
            <a:r>
              <a:rPr lang="en-GB" dirty="0">
                <a:latin typeface="Calibri" panose="020F0502020204030204" pitchFamily="34" charset="0"/>
                <a:cs typeface="Calibri" panose="020F0502020204030204" pitchFamily="34" charset="0"/>
              </a:rPr>
              <a:t>, maintaining an average profit margin of approximately </a:t>
            </a:r>
            <a:r>
              <a:rPr lang="en-GB" b="1" dirty="0">
                <a:latin typeface="Calibri" panose="020F0502020204030204" pitchFamily="34" charset="0"/>
                <a:cs typeface="Calibri" panose="020F0502020204030204" pitchFamily="34" charset="0"/>
              </a:rPr>
              <a:t>40%</a:t>
            </a:r>
            <a:r>
              <a:rPr lang="en-GB" dirty="0">
                <a:latin typeface="Calibri" panose="020F0502020204030204" pitchFamily="34" charset="0"/>
                <a:cs typeface="Calibri" panose="020F0502020204030204" pitchFamily="34" charset="0"/>
              </a:rPr>
              <a:t>. Analysis revealed that </a:t>
            </a:r>
            <a:r>
              <a:rPr lang="en-GB" b="1" dirty="0">
                <a:latin typeface="Calibri" panose="020F0502020204030204" pitchFamily="34" charset="0"/>
                <a:cs typeface="Calibri" panose="020F0502020204030204" pitchFamily="34" charset="0"/>
              </a:rPr>
              <a:t>Airport stores</a:t>
            </a:r>
            <a:r>
              <a:rPr lang="en-GB" dirty="0">
                <a:latin typeface="Calibri" panose="020F0502020204030204" pitchFamily="34" charset="0"/>
                <a:cs typeface="Calibri" panose="020F0502020204030204" pitchFamily="34" charset="0"/>
              </a:rPr>
              <a:t> delivered the highest profitability, while </a:t>
            </a:r>
            <a:r>
              <a:rPr lang="en-GB" b="1" dirty="0">
                <a:latin typeface="Calibri" panose="020F0502020204030204" pitchFamily="34" charset="0"/>
                <a:cs typeface="Calibri" panose="020F0502020204030204" pitchFamily="34" charset="0"/>
              </a:rPr>
              <a:t>Praline Chocolate</a:t>
            </a:r>
            <a:r>
              <a:rPr lang="en-GB" dirty="0">
                <a:latin typeface="Calibri" panose="020F0502020204030204" pitchFamily="34" charset="0"/>
                <a:cs typeface="Calibri" panose="020F0502020204030204" pitchFamily="34" charset="0"/>
              </a:rPr>
              <a:t> and </a:t>
            </a:r>
            <a:r>
              <a:rPr lang="en-GB" b="1" dirty="0">
                <a:latin typeface="Calibri" panose="020F0502020204030204" pitchFamily="34" charset="0"/>
                <a:cs typeface="Calibri" panose="020F0502020204030204" pitchFamily="34" charset="0"/>
              </a:rPr>
              <a:t>Dark Chocolate variants</a:t>
            </a:r>
            <a:r>
              <a:rPr lang="en-GB" dirty="0">
                <a:latin typeface="Calibri" panose="020F0502020204030204" pitchFamily="34" charset="0"/>
                <a:cs typeface="Calibri" panose="020F0502020204030204" pitchFamily="34" charset="0"/>
              </a:rPr>
              <a:t> emerged as the top-performing product categories in terms of both revenue and profit contribution.</a:t>
            </a:r>
          </a:p>
          <a:p>
            <a:r>
              <a:rPr lang="en-GB" dirty="0">
                <a:latin typeface="Calibri" panose="020F0502020204030204" pitchFamily="34" charset="0"/>
                <a:cs typeface="Calibri" panose="020F0502020204030204" pitchFamily="34" charset="0"/>
              </a:rPr>
              <a:t>Customer analysis showed balanced purchasing behaviour across gender segments, while the </a:t>
            </a:r>
            <a:r>
              <a:rPr lang="en-GB" b="1" dirty="0">
                <a:latin typeface="Calibri" panose="020F0502020204030204" pitchFamily="34" charset="0"/>
                <a:cs typeface="Calibri" panose="020F0502020204030204" pitchFamily="34" charset="0"/>
              </a:rPr>
              <a:t>56+ age group</a:t>
            </a:r>
            <a:r>
              <a:rPr lang="en-GB" dirty="0">
                <a:latin typeface="Calibri" panose="020F0502020204030204" pitchFamily="34" charset="0"/>
                <a:cs typeface="Calibri" panose="020F0502020204030204" pitchFamily="34" charset="0"/>
              </a:rPr>
              <a:t> contributed the highest revenue among all customer categories. Brand-level analysis identified </a:t>
            </a:r>
            <a:r>
              <a:rPr lang="en-GB" b="1" dirty="0">
                <a:latin typeface="Calibri" panose="020F0502020204030204" pitchFamily="34" charset="0"/>
                <a:cs typeface="Calibri" panose="020F0502020204030204" pitchFamily="34" charset="0"/>
              </a:rPr>
              <a:t>Ferrero</a:t>
            </a:r>
            <a:r>
              <a:rPr lang="en-GB" dirty="0">
                <a:latin typeface="Calibri" panose="020F0502020204030204" pitchFamily="34" charset="0"/>
                <a:cs typeface="Calibri" panose="020F0502020204030204" pitchFamily="34" charset="0"/>
              </a:rPr>
              <a:t>, </a:t>
            </a:r>
            <a:r>
              <a:rPr lang="en-GB" b="1" dirty="0">
                <a:latin typeface="Calibri" panose="020F0502020204030204" pitchFamily="34" charset="0"/>
                <a:cs typeface="Calibri" panose="020F0502020204030204" pitchFamily="34" charset="0"/>
              </a:rPr>
              <a:t>Cadbury</a:t>
            </a:r>
            <a:r>
              <a:rPr lang="en-GB" dirty="0">
                <a:latin typeface="Calibri" panose="020F0502020204030204" pitchFamily="34" charset="0"/>
                <a:cs typeface="Calibri" panose="020F0502020204030204" pitchFamily="34" charset="0"/>
              </a:rPr>
              <a:t>, and </a:t>
            </a:r>
            <a:r>
              <a:rPr lang="en-GB" b="1" dirty="0">
                <a:latin typeface="Calibri" panose="020F0502020204030204" pitchFamily="34" charset="0"/>
                <a:cs typeface="Calibri" panose="020F0502020204030204" pitchFamily="34" charset="0"/>
              </a:rPr>
              <a:t>Lindt</a:t>
            </a:r>
            <a:r>
              <a:rPr lang="en-GB" dirty="0">
                <a:latin typeface="Calibri" panose="020F0502020204030204" pitchFamily="34" charset="0"/>
                <a:cs typeface="Calibri" panose="020F0502020204030204" pitchFamily="34" charset="0"/>
              </a:rPr>
              <a:t> as major revenue-generating brands. Additionally, loyalty members contributed significantly to total sales, highlighting strong customer retention potential.</a:t>
            </a:r>
          </a:p>
        </p:txBody>
      </p:sp>
    </p:spTree>
    <p:extLst>
      <p:ext uri="{BB962C8B-B14F-4D97-AF65-F5344CB8AC3E}">
        <p14:creationId xmlns:p14="http://schemas.microsoft.com/office/powerpoint/2010/main" val="3656772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1032456949"/>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17446</TotalTime>
  <Words>2678</Words>
  <Application>Microsoft Office PowerPoint</Application>
  <PresentationFormat>Widescreen</PresentationFormat>
  <Paragraphs>357</Paragraphs>
  <Slides>29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Aptos Narrow</vt:lpstr>
      <vt:lpstr>Arial</vt:lpstr>
      <vt:lpstr>Calibri</vt:lpstr>
      <vt:lpstr>Open Sans</vt:lpstr>
      <vt:lpstr>PT Sans Narrow</vt:lpstr>
      <vt:lpstr>Raleway</vt:lpstr>
      <vt:lpstr>Wingdings</vt:lpstr>
      <vt:lpstr>Tropic</vt:lpstr>
      <vt:lpstr>PowerPoint Presentation</vt:lpstr>
      <vt:lpstr>Agenda</vt:lpstr>
      <vt:lpstr>Problem Statement</vt:lpstr>
      <vt:lpstr>Business Objective</vt:lpstr>
      <vt:lpstr>Dataset Overview</vt:lpstr>
      <vt:lpstr>Data Structure – Sales Table</vt:lpstr>
      <vt:lpstr>Data Structure – Products Table</vt:lpstr>
      <vt:lpstr>Data Structure – Customers Table</vt:lpstr>
      <vt:lpstr>Data Structure – Stores Table</vt:lpstr>
      <vt:lpstr>Data Structure – Calendar Table</vt:lpstr>
      <vt:lpstr>Data Audit &amp; Quality Check</vt:lpstr>
      <vt:lpstr>ER Diagram</vt:lpstr>
      <vt:lpstr>KRA &amp; KPI Framework</vt:lpstr>
      <vt:lpstr>Technology Stack to be Used</vt:lpstr>
      <vt:lpstr>KRA &amp; KPI Framework</vt:lpstr>
      <vt:lpstr>Descriptive Analysis – Key Insights</vt:lpstr>
      <vt:lpstr>Diagnostic Analysis</vt:lpstr>
      <vt:lpstr>Predictive Analysis</vt:lpstr>
      <vt:lpstr>Dashboard 1 – Key Insights</vt:lpstr>
      <vt:lpstr>Dashboard 1 – Key Insights</vt:lpstr>
      <vt:lpstr>Dashboard 2 – Key Insights</vt:lpstr>
      <vt:lpstr>Dashboard 2 – Key Insights</vt:lpstr>
      <vt:lpstr>Dashboard 3 – Key Insights</vt:lpstr>
      <vt:lpstr>Dashboard 3 – Key Insights</vt:lpstr>
      <vt:lpstr>Strategic Recommendations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mk.khan0786@outlook.com</cp:lastModifiedBy>
  <cp:revision>216</cp:revision>
  <dcterms:created xsi:type="dcterms:W3CDTF">2025-04-04T02:52:34Z</dcterms:created>
  <dcterms:modified xsi:type="dcterms:W3CDTF">2026-05-24T23:48:41Z</dcterms:modified>
</cp:coreProperties>
</file>